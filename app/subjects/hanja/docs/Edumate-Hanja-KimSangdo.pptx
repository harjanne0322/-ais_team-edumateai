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9"/>
  </p:notesMasterIdLst>
  <p:sldIdLst>
    <p:sldId id="283" r:id="rId2"/>
    <p:sldId id="303" r:id="rId3"/>
    <p:sldId id="304" r:id="rId4"/>
    <p:sldId id="305" r:id="rId5"/>
    <p:sldId id="297" r:id="rId6"/>
    <p:sldId id="311" r:id="rId7"/>
    <p:sldId id="306" r:id="rId8"/>
    <p:sldId id="310" r:id="rId9"/>
    <p:sldId id="308" r:id="rId10"/>
    <p:sldId id="309" r:id="rId11"/>
    <p:sldId id="307" r:id="rId12"/>
    <p:sldId id="299" r:id="rId13"/>
  </p:sldIdLst>
  <p:sldSz cx="12192000" cy="6858000"/>
  <p:notesSz cx="6858000" cy="12192000"/>
  <p:embeddedFontLst>
    <p:embeddedFont>
      <p:font typeface="Asta Sans ExtraBold" panose="020B0600000101010101" charset="-127"/>
      <p:regular r:id="rId20"/>
    </p:embeddedFont>
    <p:embeddedFont>
      <p:font typeface="Noto Sans KR Bold" panose="020B0200000000000000" pitchFamily="50" charset="-127"/>
      <p:regular r:id="rId21"/>
      <p:bold r:id="rId22"/>
    </p:embeddedFont>
    <p:embeddedFont>
      <p:font typeface="맑은 고딕" panose="020B0503020000020004" pitchFamily="50" charset="-127"/>
      <p:regular r:id="rId23"/>
      <p:bold r:id="rId24"/>
    </p:embeddedFont>
    <p:embeddedFont>
      <p:font typeface="Calibri" panose="020F0502020204030204" pitchFamily="34" charset="0"/>
      <p:regular r:id="rId25"/>
      <p:bold r:id="rId26"/>
      <p:italic r:id="rId27"/>
      <p:boldItalic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1C4D"/>
    <a:srgbClr val="E1D3EE"/>
    <a:srgbClr val="1E15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8347" autoAdjust="0"/>
  </p:normalViewPr>
  <p:slideViewPr>
    <p:cSldViewPr snapToGrid="0" snapToObjects="1">
      <p:cViewPr varScale="1">
        <p:scale>
          <a:sx n="90" d="100"/>
          <a:sy n="90" d="100"/>
        </p:scale>
        <p:origin x="135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font" Target="fonts/font1.fntdata"/><Relationship Id="rId21" Type="http://schemas.openxmlformats.org/officeDocument/2006/relationships/font" Target="fonts/font2.fntdata"/><Relationship Id="rId22" Type="http://schemas.openxmlformats.org/officeDocument/2006/relationships/font" Target="fonts/font3.fntdata"/><Relationship Id="rId23" Type="http://schemas.openxmlformats.org/officeDocument/2006/relationships/font" Target="fonts/font4.fntdata"/><Relationship Id="rId24" Type="http://schemas.openxmlformats.org/officeDocument/2006/relationships/font" Target="fonts/font5.fntdata"/><Relationship Id="rId25" Type="http://schemas.openxmlformats.org/officeDocument/2006/relationships/font" Target="fonts/font6.fntdata"/><Relationship Id="rId26" Type="http://schemas.openxmlformats.org/officeDocument/2006/relationships/font" Target="fonts/font7.fntdata"/><Relationship Id="rId27" Type="http://schemas.openxmlformats.org/officeDocument/2006/relationships/font" Target="fonts/font8.fntdata"/><Relationship Id="rId28" Type="http://schemas.openxmlformats.org/officeDocument/2006/relationships/font" Target="fonts/font9.fntdata"/><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427377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한자 파트의 종합 소개입니다. 급수별 한자 퀴즈, 훈음 판별기, 대화형 이의제기 및 하이브리드 탭 구현을 중심으로 기본 학습과 심화 학습을 연결했습니다.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2266108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급수 선택과 학습 범위 설정을 통해 학생이 자신의 수준에 맞게 한자를 탐색합니다. 카드에서 한자를 확인하고 뜻과 음을 펼쳐 본 뒤 퀴즈로 이어집니다.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529509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객관식과 OX는 1점, 음을 직접 쓰는 단답형은 3점, 뜻과 음을 쓰는 서술형은 5점입니다. 공식 시험 배점이 아닌 학습용 연습 배점입니다.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679272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화면은 읽는 말만 입력해 2점을 받은 실제 기본 채점 예시입니다. 뜻과 음의 순서를 바꾸거나 등록된 허용 표현을 사용한 답도 판별합니다. 기본 채점만으로 놓친 표현은 이의제기를 통해 검토할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759521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실용 한자어는 실제 생활 문장 안에서 독음을 익히는 기능입니다. 한자어만 입력해도 되고, 한자어를 읽는 말로 바꾼 문장 전체를 제출해도 됩니다. 최근 정답 수에 따라 학습 난이도를 조절합니다.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755186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사자성어는 모범 답안을 외우는 대신 뜻을 자신의 말로 설명하도록 구성했습니다. AI 연결이 가능하면 의미와 문맥을 평가하고, 연결이 어려우면 기본 채점으로 안내합니다. 화면은 실제 입력 화면이며 AI 응답을 연출하지 않았습니다.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0123494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브라우저에 저장된 오답 한자 복습과 서버 풀이 로그 기반 취약 내용 맞춤 복습을 제공합니다. 풀이 기록은 점수뿐 아니라 정답 예시와 피드백도 다시 확인할 수 있게 구성했습니다.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5600290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대화형 이의제기는 자유 대화로 자동 가산하는 기능이 아니라, 이의 사유를 입력해 원래 제출한 답안을 AI가 재검토하는 방식입니다. 사유를 새 답안으로 채점하지 않으며 점수 요구 등의 지시를 따르지 않도록 구성했습니다. 실제 AI 성공 응답 화면은 API 키 없이 연출하지 않았습니다.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186347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새 탭의 제목은 AI 한자어 퀴즈입니다. OFF는 출제 방식이 문제은행이라는 의미이며, 모든 채점에 AI를 쓰지 않는다는 의미는 아닙니다. 네 단원의 총 198개는 중복 유형을 묶어 집계한 한자어 또는 학습 항목 수이며 문항 레코드 수와 다릅니다.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9968782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 출제와 저장 문항 출제를 선택하는 하이브리드 구조입니다. API 오류나 연결 실패가 나면 실제 저장 문항으로 대체하고, 출처와 안내 메시지를 보여 줍니다. AI 성공 호출은 이번 클라우드 환경에 키가 없어 검증하지 않았으며 모의 응답과 실패 대체 흐름으로 검증했습니다.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985771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여러 번 클릭하거나 같은 답을 다시 제출해도 중복 적립되지 않도록 결과 조회와 갱신 경로를 사용합니다. 문제은행 복습과 신규 학습의 점수 반영 정책도 구분했습니다. 학습 기록의 소유자를 확인해 다른 학습자의 문제 재검토를 제한합니다.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18951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한자 파트는 기초적인 문자 학습에서 시작해, 문장과 사자성어의 의미 이해, 오답 복습, 이의제기를 통한 자기 설명까지 이어집니다. 한자 전용 기능을 공통 포털과 결합하되 수정 범위는 한자 폴더 내부로 유지했습니다. 검증: 관련 테스트 27개, UI 상태 테스트, 실제 브라우저의 DB 출제·채점·AI 실패 대체 동작 확인.</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700917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EFE6F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EFE6F5"/>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2C1C4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256032"/>
            <a:ext cx="10972800" cy="566928"/>
          </a:xfrm>
          <a:prstGeom prst="rect">
            <a:avLst/>
          </a:prstGeom>
          <a:noFill/>
        </p:spPr>
        <p:txBody>
          <a:bodyPr wrap="square" lIns="0" rIns="0" tIns="0" bIns="0">
            <a:spAutoFit/>
          </a:bodyPr>
          <a:lstStyle/>
          <a:p>
            <a:pPr>
              <a:lnSpc>
                <a:spcPct val="116000"/>
              </a:lnSpc>
              <a:spcAft>
                <a:spcPts val="700"/>
              </a:spcAft>
              <a:defRPr sz="3100" b="1">
                <a:solidFill>
                  <a:srgbClr val="1E1530"/>
                </a:solidFill>
                <a:latin typeface="Noto Sans KR"/>
              </a:defRPr>
            </a:pPr>
            <a:r>
              <a:t>과목별구현:(6)초등한자 - 김상도</a:t>
            </a:r>
          </a:p>
        </p:txBody>
      </p:sp>
      <p:sp>
        <p:nvSpPr>
          <p:cNvPr id="3" name="Rounded Rectangle 2"/>
          <p:cNvSpPr/>
          <p:nvPr/>
        </p:nvSpPr>
        <p:spPr>
          <a:xfrm>
            <a:off x="768096" y="850392"/>
            <a:ext cx="9976104" cy="530352"/>
          </a:xfrm>
          <a:prstGeom prst="roundRect">
            <a:avLst>
              <a:gd name="adj" fmla="val 10000"/>
            </a:avLst>
          </a:prstGeom>
          <a:solidFill>
            <a:srgbClr val="FC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50976"/>
            <a:ext cx="9646920" cy="329184"/>
          </a:xfrm>
          <a:prstGeom prst="rect">
            <a:avLst/>
          </a:prstGeom>
          <a:noFill/>
        </p:spPr>
        <p:txBody>
          <a:bodyPr wrap="square" lIns="0" rIns="0" tIns="0" bIns="0">
            <a:spAutoFit/>
          </a:bodyPr>
          <a:lstStyle/>
          <a:p>
            <a:pPr>
              <a:lnSpc>
                <a:spcPct val="116000"/>
              </a:lnSpc>
              <a:spcAft>
                <a:spcPts val="700"/>
              </a:spcAft>
              <a:defRPr sz="1600" b="1">
                <a:solidFill>
                  <a:srgbClr val="1E1530"/>
                </a:solidFill>
                <a:latin typeface="Noto Sans KR"/>
              </a:defRPr>
            </a:pPr>
            <a:r>
              <a:t>급수별 한자 퀴즈, 훈음 판별기, 대화형 이의제기 및 하이브리드 탭 구현</a:t>
            </a:r>
          </a:p>
        </p:txBody>
      </p:sp>
      <p:sp>
        <p:nvSpPr>
          <p:cNvPr id="5" name="TextBox 4"/>
          <p:cNvSpPr txBox="1"/>
          <p:nvPr/>
        </p:nvSpPr>
        <p:spPr>
          <a:xfrm>
            <a:off x="640080" y="6528816"/>
            <a:ext cx="1828800" cy="201168"/>
          </a:xfrm>
          <a:prstGeom prst="rect">
            <a:avLst/>
          </a:prstGeom>
          <a:noFill/>
        </p:spPr>
        <p:txBody>
          <a:bodyPr wrap="square" lIns="0" rIns="0" tIns="0" bIns="0">
            <a:spAutoFit/>
          </a:bodyPr>
          <a:lstStyle/>
          <a:p>
            <a:pPr>
              <a:lnSpc>
                <a:spcPct val="116000"/>
              </a:lnSpc>
              <a:spcAft>
                <a:spcPts val="700"/>
              </a:spcAft>
              <a:defRPr sz="900" b="0">
                <a:solidFill>
                  <a:srgbClr val="665E73"/>
                </a:solidFill>
                <a:latin typeface="Noto Sans KR"/>
              </a:defRPr>
            </a:pPr>
            <a:r>
              <a:t>01 / 12</a:t>
            </a:r>
          </a:p>
        </p:txBody>
      </p:sp>
      <p:sp>
        <p:nvSpPr>
          <p:cNvPr id="6" name="Rounded Rectangle 5"/>
          <p:cNvSpPr/>
          <p:nvPr/>
        </p:nvSpPr>
        <p:spPr>
          <a:xfrm>
            <a:off x="612648" y="1600200"/>
            <a:ext cx="7635240" cy="4645152"/>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ome.png"/>
          <p:cNvPicPr>
            <a:picLocks noChangeAspect="1"/>
          </p:cNvPicPr>
          <p:nvPr/>
        </p:nvPicPr>
        <p:blipFill>
          <a:blip r:embed="rId3"/>
          <a:stretch>
            <a:fillRect/>
          </a:stretch>
        </p:blipFill>
        <p:spPr>
          <a:xfrm>
            <a:off x="1296436" y="1737360"/>
            <a:ext cx="6267663" cy="4352544"/>
          </a:xfrm>
          <a:prstGeom prst="rect">
            <a:avLst/>
          </a:prstGeom>
        </p:spPr>
      </p:pic>
      <p:sp>
        <p:nvSpPr>
          <p:cNvPr id="8" name="Rounded Rectangle 7"/>
          <p:cNvSpPr/>
          <p:nvPr/>
        </p:nvSpPr>
        <p:spPr>
          <a:xfrm>
            <a:off x="8458200" y="1600200"/>
            <a:ext cx="3108960" cy="2057400"/>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59368" y="1746504"/>
            <a:ext cx="2706624" cy="365760"/>
          </a:xfrm>
          <a:prstGeom prst="rect">
            <a:avLst/>
          </a:prstGeom>
          <a:noFill/>
        </p:spPr>
        <p:txBody>
          <a:bodyPr wrap="square" lIns="0" rIns="0" tIns="0" bIns="0">
            <a:spAutoFit/>
          </a:bodyPr>
          <a:lstStyle/>
          <a:p>
            <a:pPr>
              <a:lnSpc>
                <a:spcPct val="116000"/>
              </a:lnSpc>
              <a:spcAft>
                <a:spcPts val="700"/>
              </a:spcAft>
              <a:defRPr sz="1900" b="1">
                <a:solidFill>
                  <a:srgbClr val="7152A2"/>
                </a:solidFill>
                <a:latin typeface="Noto Sans KR"/>
              </a:defRPr>
            </a:pPr>
            <a:r>
              <a:t>기본 기능</a:t>
            </a:r>
          </a:p>
        </p:txBody>
      </p:sp>
      <p:sp>
        <p:nvSpPr>
          <p:cNvPr id="10" name="TextBox 9"/>
          <p:cNvSpPr txBox="1"/>
          <p:nvPr/>
        </p:nvSpPr>
        <p:spPr>
          <a:xfrm>
            <a:off x="8659368" y="2258568"/>
            <a:ext cx="2706624" cy="1271016"/>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급수별 한자 학습</a:t>
            </a:r>
          </a:p>
          <a:p>
            <a:pPr>
              <a:lnSpc>
                <a:spcPct val="116000"/>
              </a:lnSpc>
              <a:spcAft>
                <a:spcPts val="700"/>
              </a:spcAft>
              <a:defRPr sz="1600" b="0">
                <a:solidFill>
                  <a:srgbClr val="1E1530"/>
                </a:solidFill>
                <a:latin typeface="Noto Sans KR"/>
              </a:defRPr>
            </a:pPr>
            <a:r>
              <a:t>4대 유형 퀴즈</a:t>
            </a:r>
          </a:p>
          <a:p>
            <a:pPr>
              <a:lnSpc>
                <a:spcPct val="116000"/>
              </a:lnSpc>
              <a:spcAft>
                <a:spcPts val="700"/>
              </a:spcAft>
              <a:defRPr sz="1600" b="0">
                <a:solidFill>
                  <a:srgbClr val="1E1530"/>
                </a:solidFill>
                <a:latin typeface="Noto Sans KR"/>
              </a:defRPr>
            </a:pPr>
            <a:r>
              <a:t>뜻과 음 판별·부분 점수</a:t>
            </a:r>
          </a:p>
        </p:txBody>
      </p:sp>
      <p:sp>
        <p:nvSpPr>
          <p:cNvPr id="11" name="Rounded Rectangle 10"/>
          <p:cNvSpPr/>
          <p:nvPr/>
        </p:nvSpPr>
        <p:spPr>
          <a:xfrm>
            <a:off x="8458200" y="3858768"/>
            <a:ext cx="3108960" cy="2386584"/>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59368" y="4005072"/>
            <a:ext cx="2706624" cy="365760"/>
          </a:xfrm>
          <a:prstGeom prst="rect">
            <a:avLst/>
          </a:prstGeom>
          <a:noFill/>
        </p:spPr>
        <p:txBody>
          <a:bodyPr wrap="square" lIns="0" rIns="0" tIns="0" bIns="0">
            <a:spAutoFit/>
          </a:bodyPr>
          <a:lstStyle/>
          <a:p>
            <a:pPr>
              <a:lnSpc>
                <a:spcPct val="116000"/>
              </a:lnSpc>
              <a:spcAft>
                <a:spcPts val="700"/>
              </a:spcAft>
              <a:defRPr sz="1900" b="1">
                <a:solidFill>
                  <a:srgbClr val="7152A2"/>
                </a:solidFill>
                <a:latin typeface="Noto Sans KR"/>
              </a:defRPr>
            </a:pPr>
            <a:r>
              <a:t>심화 기능</a:t>
            </a:r>
          </a:p>
        </p:txBody>
      </p:sp>
      <p:sp>
        <p:nvSpPr>
          <p:cNvPr id="13" name="TextBox 12"/>
          <p:cNvSpPr txBox="1"/>
          <p:nvPr/>
        </p:nvSpPr>
        <p:spPr>
          <a:xfrm>
            <a:off x="8659368" y="4517136"/>
            <a:ext cx="2706624" cy="1600200"/>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오답 기반 맞춤 복습</a:t>
            </a:r>
          </a:p>
          <a:p>
            <a:pPr>
              <a:lnSpc>
                <a:spcPct val="116000"/>
              </a:lnSpc>
              <a:spcAft>
                <a:spcPts val="700"/>
              </a:spcAft>
              <a:defRPr sz="1600" b="0">
                <a:solidFill>
                  <a:srgbClr val="1E1530"/>
                </a:solidFill>
                <a:latin typeface="Noto Sans KR"/>
              </a:defRPr>
            </a:pPr>
            <a:r>
              <a:t>AI 이의제기 재검토</a:t>
            </a:r>
          </a:p>
          <a:p>
            <a:pPr>
              <a:lnSpc>
                <a:spcPct val="116000"/>
              </a:lnSpc>
              <a:spcAft>
                <a:spcPts val="700"/>
              </a:spcAft>
              <a:defRPr sz="1600" b="0">
                <a:solidFill>
                  <a:srgbClr val="1E1530"/>
                </a:solidFill>
                <a:latin typeface="Noto Sans KR"/>
              </a:defRPr>
            </a:pPr>
            <a:r>
              <a:t>문제은행 + AI 출제</a:t>
            </a:r>
          </a:p>
        </p:txBody>
      </p:sp>
    </p:spTree>
    <p:extLst>
      <p:ext uri="{BB962C8B-B14F-4D97-AF65-F5344CB8AC3E}">
        <p14:creationId xmlns:p14="http://schemas.microsoft.com/office/powerpoint/2010/main" val="3613146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256032"/>
            <a:ext cx="10972800" cy="566928"/>
          </a:xfrm>
          <a:prstGeom prst="rect">
            <a:avLst/>
          </a:prstGeom>
          <a:noFill/>
        </p:spPr>
        <p:txBody>
          <a:bodyPr wrap="square" lIns="0" rIns="0" tIns="0" bIns="0">
            <a:spAutoFit/>
          </a:bodyPr>
          <a:lstStyle/>
          <a:p>
            <a:pPr>
              <a:lnSpc>
                <a:spcPct val="116000"/>
              </a:lnSpc>
              <a:spcAft>
                <a:spcPts val="700"/>
              </a:spcAft>
              <a:defRPr sz="3100" b="1">
                <a:solidFill>
                  <a:srgbClr val="1E1530"/>
                </a:solidFill>
                <a:latin typeface="Noto Sans KR"/>
              </a:defRPr>
            </a:pPr>
            <a:r>
              <a:t>과목별구현:(6)초등한자 - 김상도</a:t>
            </a:r>
          </a:p>
        </p:txBody>
      </p:sp>
      <p:sp>
        <p:nvSpPr>
          <p:cNvPr id="3" name="Rounded Rectangle 2"/>
          <p:cNvSpPr/>
          <p:nvPr/>
        </p:nvSpPr>
        <p:spPr>
          <a:xfrm>
            <a:off x="768096" y="850392"/>
            <a:ext cx="9976104" cy="530352"/>
          </a:xfrm>
          <a:prstGeom prst="roundRect">
            <a:avLst>
              <a:gd name="adj" fmla="val 10000"/>
            </a:avLst>
          </a:prstGeom>
          <a:solidFill>
            <a:srgbClr val="FC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50976"/>
            <a:ext cx="9646920" cy="329184"/>
          </a:xfrm>
          <a:prstGeom prst="rect">
            <a:avLst/>
          </a:prstGeom>
          <a:noFill/>
        </p:spPr>
        <p:txBody>
          <a:bodyPr wrap="square" lIns="0" rIns="0" tIns="0" bIns="0">
            <a:spAutoFit/>
          </a:bodyPr>
          <a:lstStyle/>
          <a:p>
            <a:pPr>
              <a:lnSpc>
                <a:spcPct val="116000"/>
              </a:lnSpc>
              <a:spcAft>
                <a:spcPts val="700"/>
              </a:spcAft>
              <a:defRPr sz="1600" b="1">
                <a:solidFill>
                  <a:srgbClr val="1E1530"/>
                </a:solidFill>
                <a:latin typeface="Noto Sans KR"/>
              </a:defRPr>
            </a:pPr>
            <a:r>
              <a:t>기본 1 · 급수와 학습 범위에 맞춘 한자 학습</a:t>
            </a:r>
          </a:p>
        </p:txBody>
      </p:sp>
      <p:sp>
        <p:nvSpPr>
          <p:cNvPr id="5" name="TextBox 4"/>
          <p:cNvSpPr txBox="1"/>
          <p:nvPr/>
        </p:nvSpPr>
        <p:spPr>
          <a:xfrm>
            <a:off x="640080" y="6528816"/>
            <a:ext cx="1828800" cy="201168"/>
          </a:xfrm>
          <a:prstGeom prst="rect">
            <a:avLst/>
          </a:prstGeom>
          <a:noFill/>
        </p:spPr>
        <p:txBody>
          <a:bodyPr wrap="square" lIns="0" rIns="0" tIns="0" bIns="0">
            <a:spAutoFit/>
          </a:bodyPr>
          <a:lstStyle/>
          <a:p>
            <a:pPr>
              <a:lnSpc>
                <a:spcPct val="116000"/>
              </a:lnSpc>
              <a:spcAft>
                <a:spcPts val="700"/>
              </a:spcAft>
              <a:defRPr sz="900" b="0">
                <a:solidFill>
                  <a:srgbClr val="665E73"/>
                </a:solidFill>
                <a:latin typeface="Noto Sans KR"/>
              </a:defRPr>
            </a:pPr>
            <a:r>
              <a:t>02 / 12</a:t>
            </a:r>
          </a:p>
        </p:txBody>
      </p:sp>
      <p:sp>
        <p:nvSpPr>
          <p:cNvPr id="6" name="Rounded Rectangle 5"/>
          <p:cNvSpPr/>
          <p:nvPr/>
        </p:nvSpPr>
        <p:spPr>
          <a:xfrm>
            <a:off x="612648" y="1618488"/>
            <a:ext cx="10972800" cy="932688"/>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ttings.png"/>
          <p:cNvPicPr>
            <a:picLocks noChangeAspect="1"/>
          </p:cNvPicPr>
          <p:nvPr/>
        </p:nvPicPr>
        <p:blipFill>
          <a:blip r:embed="rId3"/>
          <a:stretch>
            <a:fillRect/>
          </a:stretch>
        </p:blipFill>
        <p:spPr>
          <a:xfrm>
            <a:off x="2529734" y="1700784"/>
            <a:ext cx="7138626" cy="731520"/>
          </a:xfrm>
          <a:prstGeom prst="rect">
            <a:avLst/>
          </a:prstGeom>
        </p:spPr>
      </p:pic>
      <p:sp>
        <p:nvSpPr>
          <p:cNvPr id="8" name="Rounded Rectangle 7"/>
          <p:cNvSpPr/>
          <p:nvPr/>
        </p:nvSpPr>
        <p:spPr>
          <a:xfrm>
            <a:off x="612648" y="2770632"/>
            <a:ext cx="6812280" cy="3447288"/>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earn.png"/>
          <p:cNvPicPr>
            <a:picLocks noChangeAspect="1"/>
          </p:cNvPicPr>
          <p:nvPr/>
        </p:nvPicPr>
        <p:blipFill>
          <a:blip r:embed="rId4"/>
          <a:stretch>
            <a:fillRect/>
          </a:stretch>
        </p:blipFill>
        <p:spPr>
          <a:xfrm>
            <a:off x="1367161" y="2898648"/>
            <a:ext cx="5303253" cy="3191256"/>
          </a:xfrm>
          <a:prstGeom prst="rect">
            <a:avLst/>
          </a:prstGeom>
        </p:spPr>
      </p:pic>
      <p:sp>
        <p:nvSpPr>
          <p:cNvPr id="10" name="Rounded Rectangle 9"/>
          <p:cNvSpPr/>
          <p:nvPr/>
        </p:nvSpPr>
        <p:spPr>
          <a:xfrm>
            <a:off x="7662672" y="2770632"/>
            <a:ext cx="3922776" cy="3447288"/>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916936"/>
            <a:ext cx="3520440" cy="365760"/>
          </a:xfrm>
          <a:prstGeom prst="rect">
            <a:avLst/>
          </a:prstGeom>
          <a:noFill/>
        </p:spPr>
        <p:txBody>
          <a:bodyPr wrap="square" lIns="0" rIns="0" tIns="0" bIns="0">
            <a:spAutoFit/>
          </a:bodyPr>
          <a:lstStyle/>
          <a:p>
            <a:pPr>
              <a:lnSpc>
                <a:spcPct val="116000"/>
              </a:lnSpc>
              <a:spcAft>
                <a:spcPts val="700"/>
              </a:spcAft>
              <a:defRPr sz="1900" b="1">
                <a:solidFill>
                  <a:srgbClr val="7152A2"/>
                </a:solidFill>
                <a:latin typeface="Noto Sans KR"/>
              </a:defRPr>
            </a:pPr>
            <a:r>
              <a:t>학생 수준에 맞춘 탐색</a:t>
            </a:r>
          </a:p>
        </p:txBody>
      </p:sp>
      <p:sp>
        <p:nvSpPr>
          <p:cNvPr id="12" name="TextBox 11"/>
          <p:cNvSpPr txBox="1"/>
          <p:nvPr/>
        </p:nvSpPr>
        <p:spPr>
          <a:xfrm>
            <a:off x="7863840" y="3429000"/>
            <a:ext cx="3520440" cy="2660904"/>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9급부터 1급까지 선택</a:t>
            </a:r>
          </a:p>
          <a:p>
            <a:pPr>
              <a:lnSpc>
                <a:spcPct val="116000"/>
              </a:lnSpc>
              <a:spcAft>
                <a:spcPts val="700"/>
              </a:spcAft>
              <a:defRPr sz="1600" b="0">
                <a:solidFill>
                  <a:srgbClr val="1E1530"/>
                </a:solidFill>
                <a:latin typeface="Noto Sans KR"/>
              </a:defRPr>
            </a:pPr>
            <a:r>
              <a:t>현재 급수 또는 하위 급수 포함</a:t>
            </a:r>
          </a:p>
          <a:p>
            <a:pPr>
              <a:lnSpc>
                <a:spcPct val="116000"/>
              </a:lnSpc>
              <a:spcAft>
                <a:spcPts val="700"/>
              </a:spcAft>
              <a:defRPr sz="1600" b="0">
                <a:solidFill>
                  <a:srgbClr val="1E1530"/>
                </a:solidFill>
                <a:latin typeface="Noto Sans KR"/>
              </a:defRPr>
            </a:pPr>
            <a:r>
              <a:t>한자·한자어 학습 범위 선택</a:t>
            </a:r>
          </a:p>
        </p:txBody>
      </p:sp>
    </p:spTree>
    <p:extLst>
      <p:ext uri="{BB962C8B-B14F-4D97-AF65-F5344CB8AC3E}">
        <p14:creationId xmlns:p14="http://schemas.microsoft.com/office/powerpoint/2010/main" val="1622432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256032"/>
            <a:ext cx="10972800" cy="566928"/>
          </a:xfrm>
          <a:prstGeom prst="rect">
            <a:avLst/>
          </a:prstGeom>
          <a:noFill/>
        </p:spPr>
        <p:txBody>
          <a:bodyPr wrap="square" lIns="0" rIns="0" tIns="0" bIns="0">
            <a:spAutoFit/>
          </a:bodyPr>
          <a:lstStyle/>
          <a:p>
            <a:pPr>
              <a:lnSpc>
                <a:spcPct val="116000"/>
              </a:lnSpc>
              <a:spcAft>
                <a:spcPts val="700"/>
              </a:spcAft>
              <a:defRPr sz="3100" b="1">
                <a:solidFill>
                  <a:srgbClr val="1E1530"/>
                </a:solidFill>
                <a:latin typeface="Noto Sans KR"/>
              </a:defRPr>
            </a:pPr>
            <a:r>
              <a:t>과목별구현:(6)초등한자 - 김상도</a:t>
            </a:r>
          </a:p>
        </p:txBody>
      </p:sp>
      <p:sp>
        <p:nvSpPr>
          <p:cNvPr id="3" name="Rounded Rectangle 2"/>
          <p:cNvSpPr/>
          <p:nvPr/>
        </p:nvSpPr>
        <p:spPr>
          <a:xfrm>
            <a:off x="768096" y="850392"/>
            <a:ext cx="9976104" cy="530352"/>
          </a:xfrm>
          <a:prstGeom prst="roundRect">
            <a:avLst>
              <a:gd name="adj" fmla="val 10000"/>
            </a:avLst>
          </a:prstGeom>
          <a:solidFill>
            <a:srgbClr val="FC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50976"/>
            <a:ext cx="9646920" cy="329184"/>
          </a:xfrm>
          <a:prstGeom prst="rect">
            <a:avLst/>
          </a:prstGeom>
          <a:noFill/>
        </p:spPr>
        <p:txBody>
          <a:bodyPr wrap="square" lIns="0" rIns="0" tIns="0" bIns="0">
            <a:spAutoFit/>
          </a:bodyPr>
          <a:lstStyle/>
          <a:p>
            <a:pPr>
              <a:lnSpc>
                <a:spcPct val="116000"/>
              </a:lnSpc>
              <a:spcAft>
                <a:spcPts val="700"/>
              </a:spcAft>
              <a:defRPr sz="1600" b="1">
                <a:solidFill>
                  <a:srgbClr val="1E1530"/>
                </a:solidFill>
                <a:latin typeface="Noto Sans KR"/>
              </a:defRPr>
            </a:pPr>
            <a:r>
              <a:t>기본 2 · 객관식·OX·단답형·서술형의 4대 퀴즈 유형</a:t>
            </a:r>
          </a:p>
        </p:txBody>
      </p:sp>
      <p:sp>
        <p:nvSpPr>
          <p:cNvPr id="5" name="TextBox 4"/>
          <p:cNvSpPr txBox="1"/>
          <p:nvPr/>
        </p:nvSpPr>
        <p:spPr>
          <a:xfrm>
            <a:off x="640080" y="6528816"/>
            <a:ext cx="1828800" cy="201168"/>
          </a:xfrm>
          <a:prstGeom prst="rect">
            <a:avLst/>
          </a:prstGeom>
          <a:noFill/>
        </p:spPr>
        <p:txBody>
          <a:bodyPr wrap="square" lIns="0" rIns="0" tIns="0" bIns="0">
            <a:spAutoFit/>
          </a:bodyPr>
          <a:lstStyle/>
          <a:p>
            <a:pPr>
              <a:lnSpc>
                <a:spcPct val="116000"/>
              </a:lnSpc>
              <a:spcAft>
                <a:spcPts val="700"/>
              </a:spcAft>
              <a:defRPr sz="900" b="0">
                <a:solidFill>
                  <a:srgbClr val="665E73"/>
                </a:solidFill>
                <a:latin typeface="Noto Sans KR"/>
              </a:defRPr>
            </a:pPr>
            <a:r>
              <a:t>03 / 12</a:t>
            </a:r>
          </a:p>
        </p:txBody>
      </p:sp>
      <p:sp>
        <p:nvSpPr>
          <p:cNvPr id="6" name="Rounded Rectangle 5"/>
          <p:cNvSpPr/>
          <p:nvPr/>
        </p:nvSpPr>
        <p:spPr>
          <a:xfrm>
            <a:off x="612648" y="1627632"/>
            <a:ext cx="5367528" cy="2112264"/>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5029200" cy="274320"/>
          </a:xfrm>
          <a:prstGeom prst="rect">
            <a:avLst/>
          </a:prstGeom>
          <a:noFill/>
        </p:spPr>
        <p:txBody>
          <a:bodyPr wrap="square" lIns="0" rIns="0" tIns="0" bIns="0">
            <a:spAutoFit/>
          </a:bodyPr>
          <a:lstStyle/>
          <a:p>
            <a:pPr>
              <a:lnSpc>
                <a:spcPct val="116000"/>
              </a:lnSpc>
              <a:spcAft>
                <a:spcPts val="700"/>
              </a:spcAft>
              <a:defRPr sz="1600" b="1">
                <a:solidFill>
                  <a:srgbClr val="7152A2"/>
                </a:solidFill>
                <a:latin typeface="Noto Sans KR"/>
              </a:defRPr>
            </a:pPr>
            <a:r>
              <a:t>객관식 · 1점</a:t>
            </a:r>
          </a:p>
        </p:txBody>
      </p:sp>
      <p:pic>
        <p:nvPicPr>
          <p:cNvPr id="8" name="Picture 7" descr="quiz-multiple_choice.png"/>
          <p:cNvPicPr>
            <a:picLocks noChangeAspect="1"/>
          </p:cNvPicPr>
          <p:nvPr/>
        </p:nvPicPr>
        <p:blipFill>
          <a:blip r:embed="rId3"/>
          <a:stretch>
            <a:fillRect/>
          </a:stretch>
        </p:blipFill>
        <p:spPr>
          <a:xfrm>
            <a:off x="2050375" y="2103120"/>
            <a:ext cx="2492073" cy="1499616"/>
          </a:xfrm>
          <a:prstGeom prst="rect">
            <a:avLst/>
          </a:prstGeom>
        </p:spPr>
      </p:pic>
      <p:sp>
        <p:nvSpPr>
          <p:cNvPr id="9" name="Rounded Rectangle 8"/>
          <p:cNvSpPr/>
          <p:nvPr/>
        </p:nvSpPr>
        <p:spPr>
          <a:xfrm>
            <a:off x="6199632" y="1627632"/>
            <a:ext cx="5367528" cy="2112264"/>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719072"/>
            <a:ext cx="5029200" cy="274320"/>
          </a:xfrm>
          <a:prstGeom prst="rect">
            <a:avLst/>
          </a:prstGeom>
          <a:noFill/>
        </p:spPr>
        <p:txBody>
          <a:bodyPr wrap="square" lIns="0" rIns="0" tIns="0" bIns="0">
            <a:spAutoFit/>
          </a:bodyPr>
          <a:lstStyle/>
          <a:p>
            <a:pPr>
              <a:lnSpc>
                <a:spcPct val="116000"/>
              </a:lnSpc>
              <a:spcAft>
                <a:spcPts val="700"/>
              </a:spcAft>
              <a:defRPr sz="1600" b="1">
                <a:solidFill>
                  <a:srgbClr val="7152A2"/>
                </a:solidFill>
                <a:latin typeface="Noto Sans KR"/>
              </a:defRPr>
            </a:pPr>
            <a:r>
              <a:t>OX · 1점</a:t>
            </a:r>
          </a:p>
        </p:txBody>
      </p:sp>
      <p:pic>
        <p:nvPicPr>
          <p:cNvPr id="11" name="Picture 10" descr="quiz-ox.png"/>
          <p:cNvPicPr>
            <a:picLocks noChangeAspect="1"/>
          </p:cNvPicPr>
          <p:nvPr/>
        </p:nvPicPr>
        <p:blipFill>
          <a:blip r:embed="rId4"/>
          <a:stretch>
            <a:fillRect/>
          </a:stretch>
        </p:blipFill>
        <p:spPr>
          <a:xfrm>
            <a:off x="7491244" y="2103120"/>
            <a:ext cx="2784303" cy="1499616"/>
          </a:xfrm>
          <a:prstGeom prst="rect">
            <a:avLst/>
          </a:prstGeom>
        </p:spPr>
      </p:pic>
      <p:sp>
        <p:nvSpPr>
          <p:cNvPr id="12" name="Rounded Rectangle 11"/>
          <p:cNvSpPr/>
          <p:nvPr/>
        </p:nvSpPr>
        <p:spPr>
          <a:xfrm>
            <a:off x="612648" y="3931920"/>
            <a:ext cx="5367528" cy="2112264"/>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023359"/>
            <a:ext cx="5029200" cy="274320"/>
          </a:xfrm>
          <a:prstGeom prst="rect">
            <a:avLst/>
          </a:prstGeom>
          <a:noFill/>
        </p:spPr>
        <p:txBody>
          <a:bodyPr wrap="square" lIns="0" rIns="0" tIns="0" bIns="0">
            <a:spAutoFit/>
          </a:bodyPr>
          <a:lstStyle/>
          <a:p>
            <a:pPr>
              <a:lnSpc>
                <a:spcPct val="116000"/>
              </a:lnSpc>
              <a:spcAft>
                <a:spcPts val="700"/>
              </a:spcAft>
              <a:defRPr sz="1600" b="1">
                <a:solidFill>
                  <a:srgbClr val="7152A2"/>
                </a:solidFill>
                <a:latin typeface="Noto Sans KR"/>
              </a:defRPr>
            </a:pPr>
            <a:r>
              <a:t>단답형 · 3점</a:t>
            </a:r>
          </a:p>
        </p:txBody>
      </p:sp>
      <p:pic>
        <p:nvPicPr>
          <p:cNvPr id="14" name="Picture 13" descr="quiz-short_answer.png"/>
          <p:cNvPicPr>
            <a:picLocks noChangeAspect="1"/>
          </p:cNvPicPr>
          <p:nvPr/>
        </p:nvPicPr>
        <p:blipFill>
          <a:blip r:embed="rId5"/>
          <a:stretch>
            <a:fillRect/>
          </a:stretch>
        </p:blipFill>
        <p:spPr>
          <a:xfrm>
            <a:off x="2016799" y="4407408"/>
            <a:ext cx="2559224" cy="1499615"/>
          </a:xfrm>
          <a:prstGeom prst="rect">
            <a:avLst/>
          </a:prstGeom>
        </p:spPr>
      </p:pic>
      <p:sp>
        <p:nvSpPr>
          <p:cNvPr id="15" name="Rounded Rectangle 14"/>
          <p:cNvSpPr/>
          <p:nvPr/>
        </p:nvSpPr>
        <p:spPr>
          <a:xfrm>
            <a:off x="6199632" y="3931920"/>
            <a:ext cx="5367528" cy="2112264"/>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4023359"/>
            <a:ext cx="5029200" cy="274320"/>
          </a:xfrm>
          <a:prstGeom prst="rect">
            <a:avLst/>
          </a:prstGeom>
          <a:noFill/>
        </p:spPr>
        <p:txBody>
          <a:bodyPr wrap="square" lIns="0" rIns="0" tIns="0" bIns="0">
            <a:spAutoFit/>
          </a:bodyPr>
          <a:lstStyle/>
          <a:p>
            <a:pPr>
              <a:lnSpc>
                <a:spcPct val="116000"/>
              </a:lnSpc>
              <a:spcAft>
                <a:spcPts val="700"/>
              </a:spcAft>
              <a:defRPr sz="1600" b="1">
                <a:solidFill>
                  <a:srgbClr val="7152A2"/>
                </a:solidFill>
                <a:latin typeface="Noto Sans KR"/>
              </a:defRPr>
            </a:pPr>
            <a:r>
              <a:t>서술형 · 5점</a:t>
            </a:r>
          </a:p>
        </p:txBody>
      </p:sp>
      <p:pic>
        <p:nvPicPr>
          <p:cNvPr id="17" name="Picture 16" descr="quiz-essay.png"/>
          <p:cNvPicPr>
            <a:picLocks noChangeAspect="1"/>
          </p:cNvPicPr>
          <p:nvPr/>
        </p:nvPicPr>
        <p:blipFill>
          <a:blip r:embed="rId6"/>
          <a:stretch>
            <a:fillRect/>
          </a:stretch>
        </p:blipFill>
        <p:spPr>
          <a:xfrm>
            <a:off x="7603783" y="4407408"/>
            <a:ext cx="2559224" cy="1499615"/>
          </a:xfrm>
          <a:prstGeom prst="rect">
            <a:avLst/>
          </a:prstGeom>
        </p:spPr>
      </p:pic>
    </p:spTree>
    <p:extLst>
      <p:ext uri="{BB962C8B-B14F-4D97-AF65-F5344CB8AC3E}">
        <p14:creationId xmlns:p14="http://schemas.microsoft.com/office/powerpoint/2010/main" val="3568329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256032"/>
            <a:ext cx="10972800" cy="566928"/>
          </a:xfrm>
          <a:prstGeom prst="rect">
            <a:avLst/>
          </a:prstGeom>
          <a:noFill/>
        </p:spPr>
        <p:txBody>
          <a:bodyPr wrap="square" lIns="0" rIns="0" tIns="0" bIns="0">
            <a:spAutoFit/>
          </a:bodyPr>
          <a:lstStyle/>
          <a:p>
            <a:pPr>
              <a:lnSpc>
                <a:spcPct val="116000"/>
              </a:lnSpc>
              <a:spcAft>
                <a:spcPts val="700"/>
              </a:spcAft>
              <a:defRPr sz="3100" b="1">
                <a:solidFill>
                  <a:srgbClr val="1E1530"/>
                </a:solidFill>
                <a:latin typeface="Noto Sans KR"/>
              </a:defRPr>
            </a:pPr>
            <a:r>
              <a:t>과목별구현:(6)초등한자 - 김상도</a:t>
            </a:r>
          </a:p>
        </p:txBody>
      </p:sp>
      <p:sp>
        <p:nvSpPr>
          <p:cNvPr id="3" name="Rounded Rectangle 2"/>
          <p:cNvSpPr/>
          <p:nvPr/>
        </p:nvSpPr>
        <p:spPr>
          <a:xfrm>
            <a:off x="768096" y="850392"/>
            <a:ext cx="9976104" cy="530352"/>
          </a:xfrm>
          <a:prstGeom prst="roundRect">
            <a:avLst>
              <a:gd name="adj" fmla="val 10000"/>
            </a:avLst>
          </a:prstGeom>
          <a:solidFill>
            <a:srgbClr val="FC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50976"/>
            <a:ext cx="9646920" cy="329184"/>
          </a:xfrm>
          <a:prstGeom prst="rect">
            <a:avLst/>
          </a:prstGeom>
          <a:noFill/>
        </p:spPr>
        <p:txBody>
          <a:bodyPr wrap="square" lIns="0" rIns="0" tIns="0" bIns="0">
            <a:spAutoFit/>
          </a:bodyPr>
          <a:lstStyle/>
          <a:p>
            <a:pPr>
              <a:lnSpc>
                <a:spcPct val="116000"/>
              </a:lnSpc>
              <a:spcAft>
                <a:spcPts val="700"/>
              </a:spcAft>
              <a:defRPr sz="1600" b="1">
                <a:solidFill>
                  <a:srgbClr val="1E1530"/>
                </a:solidFill>
                <a:latin typeface="Noto Sans KR"/>
              </a:defRPr>
            </a:pPr>
            <a:r>
              <a:t>기본 3 · 훈음 판별과 부분 점수로 세밀한 피드백 제공</a:t>
            </a:r>
          </a:p>
        </p:txBody>
      </p:sp>
      <p:sp>
        <p:nvSpPr>
          <p:cNvPr id="5" name="TextBox 4"/>
          <p:cNvSpPr txBox="1"/>
          <p:nvPr/>
        </p:nvSpPr>
        <p:spPr>
          <a:xfrm>
            <a:off x="640080" y="6528816"/>
            <a:ext cx="1828800" cy="201168"/>
          </a:xfrm>
          <a:prstGeom prst="rect">
            <a:avLst/>
          </a:prstGeom>
          <a:noFill/>
        </p:spPr>
        <p:txBody>
          <a:bodyPr wrap="square" lIns="0" rIns="0" tIns="0" bIns="0">
            <a:spAutoFit/>
          </a:bodyPr>
          <a:lstStyle/>
          <a:p>
            <a:pPr>
              <a:lnSpc>
                <a:spcPct val="116000"/>
              </a:lnSpc>
              <a:spcAft>
                <a:spcPts val="700"/>
              </a:spcAft>
              <a:defRPr sz="900" b="0">
                <a:solidFill>
                  <a:srgbClr val="665E73"/>
                </a:solidFill>
                <a:latin typeface="Noto Sans KR"/>
              </a:defRPr>
            </a:pPr>
            <a:r>
              <a:t>04 / 12</a:t>
            </a:r>
          </a:p>
        </p:txBody>
      </p:sp>
      <p:sp>
        <p:nvSpPr>
          <p:cNvPr id="6" name="Rounded Rectangle 5"/>
          <p:cNvSpPr/>
          <p:nvPr/>
        </p:nvSpPr>
        <p:spPr>
          <a:xfrm>
            <a:off x="612648" y="1627632"/>
            <a:ext cx="6995160" cy="4562856"/>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rtial.png"/>
          <p:cNvPicPr>
            <a:picLocks noChangeAspect="1"/>
          </p:cNvPicPr>
          <p:nvPr/>
        </p:nvPicPr>
        <p:blipFill>
          <a:blip r:embed="rId3"/>
          <a:stretch>
            <a:fillRect/>
          </a:stretch>
        </p:blipFill>
        <p:spPr>
          <a:xfrm>
            <a:off x="1104529" y="1828800"/>
            <a:ext cx="6011397" cy="4160520"/>
          </a:xfrm>
          <a:prstGeom prst="rect">
            <a:avLst/>
          </a:prstGeom>
        </p:spPr>
      </p:pic>
      <p:sp>
        <p:nvSpPr>
          <p:cNvPr id="8" name="Rounded Rectangle 7"/>
          <p:cNvSpPr/>
          <p:nvPr/>
        </p:nvSpPr>
        <p:spPr>
          <a:xfrm>
            <a:off x="7836408" y="1627632"/>
            <a:ext cx="3749039" cy="2532888"/>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37576" y="1773936"/>
            <a:ext cx="3346703" cy="365760"/>
          </a:xfrm>
          <a:prstGeom prst="rect">
            <a:avLst/>
          </a:prstGeom>
          <a:noFill/>
        </p:spPr>
        <p:txBody>
          <a:bodyPr wrap="square" lIns="0" rIns="0" tIns="0" bIns="0">
            <a:spAutoFit/>
          </a:bodyPr>
          <a:lstStyle/>
          <a:p>
            <a:pPr>
              <a:lnSpc>
                <a:spcPct val="116000"/>
              </a:lnSpc>
              <a:spcAft>
                <a:spcPts val="700"/>
              </a:spcAft>
              <a:defRPr sz="1900" b="1">
                <a:solidFill>
                  <a:srgbClr val="7152A2"/>
                </a:solidFill>
                <a:latin typeface="Noto Sans KR"/>
              </a:defRPr>
            </a:pPr>
            <a:r>
              <a:t>뜻과 음을 분리해 확인</a:t>
            </a:r>
          </a:p>
        </p:txBody>
      </p:sp>
      <p:sp>
        <p:nvSpPr>
          <p:cNvPr id="10" name="TextBox 9"/>
          <p:cNvSpPr txBox="1"/>
          <p:nvPr/>
        </p:nvSpPr>
        <p:spPr>
          <a:xfrm>
            <a:off x="8037576" y="2286000"/>
            <a:ext cx="3346703" cy="1746504"/>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뜻+음이 맞으면 5점</a:t>
            </a:r>
          </a:p>
          <a:p>
            <a:pPr>
              <a:lnSpc>
                <a:spcPct val="116000"/>
              </a:lnSpc>
              <a:spcAft>
                <a:spcPts val="700"/>
              </a:spcAft>
              <a:defRPr sz="1600" b="0">
                <a:solidFill>
                  <a:srgbClr val="1E1530"/>
                </a:solidFill>
                <a:latin typeface="Noto Sans KR"/>
              </a:defRPr>
            </a:pPr>
            <a:r>
              <a:t>뜻 또는 음만 맞으면 2점</a:t>
            </a:r>
          </a:p>
          <a:p>
            <a:pPr>
              <a:lnSpc>
                <a:spcPct val="116000"/>
              </a:lnSpc>
              <a:spcAft>
                <a:spcPts val="700"/>
              </a:spcAft>
              <a:defRPr sz="1600" b="0">
                <a:solidFill>
                  <a:srgbClr val="1E1530"/>
                </a:solidFill>
                <a:latin typeface="Noto Sans KR"/>
              </a:defRPr>
            </a:pPr>
            <a:r>
              <a:t>허용 훈음·동의 표현 인정</a:t>
            </a:r>
          </a:p>
        </p:txBody>
      </p:sp>
      <p:sp>
        <p:nvSpPr>
          <p:cNvPr id="11" name="Rounded Rectangle 10"/>
          <p:cNvSpPr/>
          <p:nvPr/>
        </p:nvSpPr>
        <p:spPr>
          <a:xfrm>
            <a:off x="7836408" y="4370832"/>
            <a:ext cx="3749039" cy="1819656"/>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37576" y="4517136"/>
            <a:ext cx="3346703" cy="365760"/>
          </a:xfrm>
          <a:prstGeom prst="rect">
            <a:avLst/>
          </a:prstGeom>
          <a:noFill/>
        </p:spPr>
        <p:txBody>
          <a:bodyPr wrap="square" lIns="0" rIns="0" tIns="0" bIns="0">
            <a:spAutoFit/>
          </a:bodyPr>
          <a:lstStyle/>
          <a:p>
            <a:pPr>
              <a:lnSpc>
                <a:spcPct val="116000"/>
              </a:lnSpc>
              <a:spcAft>
                <a:spcPts val="700"/>
              </a:spcAft>
              <a:defRPr sz="1900" b="1">
                <a:solidFill>
                  <a:srgbClr val="7152A2"/>
                </a:solidFill>
                <a:latin typeface="Noto Sans KR"/>
              </a:defRPr>
            </a:pPr>
            <a:r>
              <a:t>틀린 답도 학습의 재료로</a:t>
            </a:r>
          </a:p>
        </p:txBody>
      </p:sp>
      <p:sp>
        <p:nvSpPr>
          <p:cNvPr id="13" name="TextBox 12"/>
          <p:cNvSpPr txBox="1"/>
          <p:nvPr/>
        </p:nvSpPr>
        <p:spPr>
          <a:xfrm>
            <a:off x="8037576" y="5029200"/>
            <a:ext cx="3346703" cy="1033271"/>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점수와 정답 예시를 함께 제시</a:t>
            </a:r>
          </a:p>
          <a:p>
            <a:pPr>
              <a:lnSpc>
                <a:spcPct val="116000"/>
              </a:lnSpc>
              <a:spcAft>
                <a:spcPts val="700"/>
              </a:spcAft>
              <a:defRPr sz="1600" b="0">
                <a:solidFill>
                  <a:srgbClr val="1E1530"/>
                </a:solidFill>
                <a:latin typeface="Noto Sans KR"/>
              </a:defRPr>
            </a:pPr>
            <a:r>
              <a:t>부족한 부분을 즉시 확인</a:t>
            </a:r>
          </a:p>
          <a:p>
            <a:pPr>
              <a:lnSpc>
                <a:spcPct val="116000"/>
              </a:lnSpc>
              <a:spcAft>
                <a:spcPts val="700"/>
              </a:spcAft>
              <a:defRPr sz="1600" b="0">
                <a:solidFill>
                  <a:srgbClr val="1E1530"/>
                </a:solidFill>
                <a:latin typeface="Noto Sans KR"/>
              </a:defRPr>
            </a:pPr>
            <a:r>
              <a:t>기본 채점 결과는 이의제기 가능</a:t>
            </a:r>
          </a:p>
        </p:txBody>
      </p:sp>
    </p:spTree>
    <p:extLst>
      <p:ext uri="{BB962C8B-B14F-4D97-AF65-F5344CB8AC3E}">
        <p14:creationId xmlns:p14="http://schemas.microsoft.com/office/powerpoint/2010/main" val="2569143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256032"/>
            <a:ext cx="10972800" cy="566928"/>
          </a:xfrm>
          <a:prstGeom prst="rect">
            <a:avLst/>
          </a:prstGeom>
          <a:noFill/>
        </p:spPr>
        <p:txBody>
          <a:bodyPr wrap="square" lIns="0" rIns="0" tIns="0" bIns="0">
            <a:spAutoFit/>
          </a:bodyPr>
          <a:lstStyle/>
          <a:p>
            <a:pPr>
              <a:lnSpc>
                <a:spcPct val="116000"/>
              </a:lnSpc>
              <a:spcAft>
                <a:spcPts val="700"/>
              </a:spcAft>
              <a:defRPr sz="3100" b="1">
                <a:solidFill>
                  <a:srgbClr val="1E1530"/>
                </a:solidFill>
                <a:latin typeface="Noto Sans KR"/>
              </a:defRPr>
            </a:pPr>
            <a:r>
              <a:t>과목별구현:(6)초등한자 - 김상도</a:t>
            </a:r>
          </a:p>
        </p:txBody>
      </p:sp>
      <p:sp>
        <p:nvSpPr>
          <p:cNvPr id="3" name="Rounded Rectangle 2"/>
          <p:cNvSpPr/>
          <p:nvPr/>
        </p:nvSpPr>
        <p:spPr>
          <a:xfrm>
            <a:off x="768096" y="850392"/>
            <a:ext cx="9976104" cy="530352"/>
          </a:xfrm>
          <a:prstGeom prst="roundRect">
            <a:avLst>
              <a:gd name="adj" fmla="val 10000"/>
            </a:avLst>
          </a:prstGeom>
          <a:solidFill>
            <a:srgbClr val="FC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50976"/>
            <a:ext cx="9646920" cy="329184"/>
          </a:xfrm>
          <a:prstGeom prst="rect">
            <a:avLst/>
          </a:prstGeom>
          <a:noFill/>
        </p:spPr>
        <p:txBody>
          <a:bodyPr wrap="square" lIns="0" rIns="0" tIns="0" bIns="0">
            <a:spAutoFit/>
          </a:bodyPr>
          <a:lstStyle/>
          <a:p>
            <a:pPr>
              <a:lnSpc>
                <a:spcPct val="116000"/>
              </a:lnSpc>
              <a:spcAft>
                <a:spcPts val="700"/>
              </a:spcAft>
              <a:defRPr sz="1600" b="1">
                <a:solidFill>
                  <a:srgbClr val="1E1530"/>
                </a:solidFill>
                <a:latin typeface="Noto Sans KR"/>
              </a:defRPr>
            </a:pPr>
            <a:r>
              <a:t>기본 4 · 일상 문장 속에서 익히는 실용 한자어</a:t>
            </a:r>
          </a:p>
        </p:txBody>
      </p:sp>
      <p:sp>
        <p:nvSpPr>
          <p:cNvPr id="5" name="TextBox 4"/>
          <p:cNvSpPr txBox="1"/>
          <p:nvPr/>
        </p:nvSpPr>
        <p:spPr>
          <a:xfrm>
            <a:off x="640080" y="6528816"/>
            <a:ext cx="1828800" cy="201168"/>
          </a:xfrm>
          <a:prstGeom prst="rect">
            <a:avLst/>
          </a:prstGeom>
          <a:noFill/>
        </p:spPr>
        <p:txBody>
          <a:bodyPr wrap="square" lIns="0" rIns="0" tIns="0" bIns="0">
            <a:spAutoFit/>
          </a:bodyPr>
          <a:lstStyle/>
          <a:p>
            <a:pPr>
              <a:lnSpc>
                <a:spcPct val="116000"/>
              </a:lnSpc>
              <a:spcAft>
                <a:spcPts val="700"/>
              </a:spcAft>
              <a:defRPr sz="900" b="0">
                <a:solidFill>
                  <a:srgbClr val="665E73"/>
                </a:solidFill>
                <a:latin typeface="Noto Sans KR"/>
              </a:defRPr>
            </a:pPr>
            <a:r>
              <a:t>05 / 12</a:t>
            </a:r>
          </a:p>
        </p:txBody>
      </p:sp>
      <p:sp>
        <p:nvSpPr>
          <p:cNvPr id="6" name="Rounded Rectangle 5"/>
          <p:cNvSpPr/>
          <p:nvPr/>
        </p:nvSpPr>
        <p:spPr>
          <a:xfrm>
            <a:off x="612648" y="1627632"/>
            <a:ext cx="5806440" cy="4562856"/>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ractical.png"/>
          <p:cNvPicPr>
            <a:picLocks noChangeAspect="1"/>
          </p:cNvPicPr>
          <p:nvPr/>
        </p:nvPicPr>
        <p:blipFill>
          <a:blip r:embed="rId3"/>
          <a:stretch>
            <a:fillRect/>
          </a:stretch>
        </p:blipFill>
        <p:spPr>
          <a:xfrm>
            <a:off x="1261729" y="1810512"/>
            <a:ext cx="4508276" cy="4187952"/>
          </a:xfrm>
          <a:prstGeom prst="rect">
            <a:avLst/>
          </a:prstGeom>
        </p:spPr>
      </p:pic>
      <p:sp>
        <p:nvSpPr>
          <p:cNvPr id="8" name="Rounded Rectangle 7"/>
          <p:cNvSpPr/>
          <p:nvPr/>
        </p:nvSpPr>
        <p:spPr>
          <a:xfrm>
            <a:off x="6656832" y="1627632"/>
            <a:ext cx="4928616" cy="2359152"/>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1773936"/>
            <a:ext cx="4526279" cy="365760"/>
          </a:xfrm>
          <a:prstGeom prst="rect">
            <a:avLst/>
          </a:prstGeom>
          <a:noFill/>
        </p:spPr>
        <p:txBody>
          <a:bodyPr wrap="square" lIns="0" rIns="0" tIns="0" bIns="0">
            <a:spAutoFit/>
          </a:bodyPr>
          <a:lstStyle/>
          <a:p>
            <a:pPr>
              <a:lnSpc>
                <a:spcPct val="116000"/>
              </a:lnSpc>
              <a:spcAft>
                <a:spcPts val="700"/>
              </a:spcAft>
              <a:defRPr sz="1900" b="1">
                <a:solidFill>
                  <a:srgbClr val="7152A2"/>
                </a:solidFill>
                <a:latin typeface="Noto Sans KR"/>
              </a:defRPr>
            </a:pPr>
            <a:r>
              <a:t>일상 문장과 독음 연결</a:t>
            </a:r>
          </a:p>
        </p:txBody>
      </p:sp>
      <p:sp>
        <p:nvSpPr>
          <p:cNvPr id="10" name="TextBox 9"/>
          <p:cNvSpPr txBox="1"/>
          <p:nvPr/>
        </p:nvSpPr>
        <p:spPr>
          <a:xfrm>
            <a:off x="6858000" y="2286000"/>
            <a:ext cx="4526279" cy="1572768"/>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문장 속 한자어를 한글로 입력</a:t>
            </a:r>
          </a:p>
          <a:p>
            <a:pPr>
              <a:lnSpc>
                <a:spcPct val="116000"/>
              </a:lnSpc>
              <a:spcAft>
                <a:spcPts val="700"/>
              </a:spcAft>
              <a:defRPr sz="1600" b="0">
                <a:solidFill>
                  <a:srgbClr val="1E1530"/>
                </a:solidFill>
                <a:latin typeface="Noto Sans KR"/>
              </a:defRPr>
            </a:pPr>
            <a:r>
              <a:t>낱말만 쓰거나 문장 전체로 답변</a:t>
            </a:r>
          </a:p>
          <a:p>
            <a:pPr>
              <a:lnSpc>
                <a:spcPct val="116000"/>
              </a:lnSpc>
              <a:spcAft>
                <a:spcPts val="700"/>
              </a:spcAft>
              <a:defRPr sz="1600" b="0">
                <a:solidFill>
                  <a:srgbClr val="1E1530"/>
                </a:solidFill>
                <a:latin typeface="Noto Sans KR"/>
              </a:defRPr>
            </a:pPr>
            <a:r>
              <a:t>정답 1점 · 오답 0점</a:t>
            </a:r>
          </a:p>
        </p:txBody>
      </p:sp>
      <p:sp>
        <p:nvSpPr>
          <p:cNvPr id="11" name="Rounded Rectangle 10"/>
          <p:cNvSpPr/>
          <p:nvPr/>
        </p:nvSpPr>
        <p:spPr>
          <a:xfrm>
            <a:off x="6656832" y="4187952"/>
            <a:ext cx="4928616" cy="2002536"/>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4334256"/>
            <a:ext cx="4526279" cy="365760"/>
          </a:xfrm>
          <a:prstGeom prst="rect">
            <a:avLst/>
          </a:prstGeom>
          <a:noFill/>
        </p:spPr>
        <p:txBody>
          <a:bodyPr wrap="square" lIns="0" rIns="0" tIns="0" bIns="0">
            <a:spAutoFit/>
          </a:bodyPr>
          <a:lstStyle/>
          <a:p>
            <a:pPr>
              <a:lnSpc>
                <a:spcPct val="116000"/>
              </a:lnSpc>
              <a:spcAft>
                <a:spcPts val="700"/>
              </a:spcAft>
              <a:defRPr sz="1900" b="1">
                <a:solidFill>
                  <a:srgbClr val="7152A2"/>
                </a:solidFill>
                <a:latin typeface="Noto Sans KR"/>
              </a:defRPr>
            </a:pPr>
            <a:r>
              <a:t>학습 결과에 따른 난이도 조절</a:t>
            </a:r>
          </a:p>
        </p:txBody>
      </p:sp>
      <p:sp>
        <p:nvSpPr>
          <p:cNvPr id="13" name="TextBox 12"/>
          <p:cNvSpPr txBox="1"/>
          <p:nvPr/>
        </p:nvSpPr>
        <p:spPr>
          <a:xfrm>
            <a:off x="6858000" y="4846320"/>
            <a:ext cx="4526279" cy="1216152"/>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처음에는 7~9급부터 시작</a:t>
            </a:r>
          </a:p>
          <a:p>
            <a:pPr>
              <a:lnSpc>
                <a:spcPct val="116000"/>
              </a:lnSpc>
              <a:spcAft>
                <a:spcPts val="700"/>
              </a:spcAft>
              <a:defRPr sz="1600" b="0">
                <a:solidFill>
                  <a:srgbClr val="1E1530"/>
                </a:solidFill>
                <a:latin typeface="Noto Sans KR"/>
              </a:defRPr>
            </a:pPr>
            <a:r>
              <a:t>최근 5문제 정답 수를 반영</a:t>
            </a:r>
          </a:p>
          <a:p>
            <a:pPr>
              <a:lnSpc>
                <a:spcPct val="116000"/>
              </a:lnSpc>
              <a:spcAft>
                <a:spcPts val="700"/>
              </a:spcAft>
              <a:defRPr sz="1600" b="0">
                <a:solidFill>
                  <a:srgbClr val="1E1530"/>
                </a:solidFill>
                <a:latin typeface="Noto Sans KR"/>
              </a:defRPr>
            </a:pPr>
            <a:r>
              <a:t>정답이면 3초 후 다음 문제로 이동</a:t>
            </a:r>
          </a:p>
        </p:txBody>
      </p:sp>
    </p:spTree>
    <p:extLst>
      <p:ext uri="{BB962C8B-B14F-4D97-AF65-F5344CB8AC3E}">
        <p14:creationId xmlns:p14="http://schemas.microsoft.com/office/powerpoint/2010/main" val="1035085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256032"/>
            <a:ext cx="10972800" cy="566928"/>
          </a:xfrm>
          <a:prstGeom prst="rect">
            <a:avLst/>
          </a:prstGeom>
          <a:noFill/>
        </p:spPr>
        <p:txBody>
          <a:bodyPr wrap="square" lIns="0" rIns="0" tIns="0" bIns="0">
            <a:spAutoFit/>
          </a:bodyPr>
          <a:lstStyle/>
          <a:p>
            <a:pPr>
              <a:lnSpc>
                <a:spcPct val="116000"/>
              </a:lnSpc>
              <a:spcAft>
                <a:spcPts val="700"/>
              </a:spcAft>
              <a:defRPr sz="3100" b="1">
                <a:solidFill>
                  <a:srgbClr val="1E1530"/>
                </a:solidFill>
                <a:latin typeface="Noto Sans KR"/>
              </a:defRPr>
            </a:pPr>
            <a:r>
              <a:t>과목별구현:(6)초등한자 - 김상도</a:t>
            </a:r>
          </a:p>
        </p:txBody>
      </p:sp>
      <p:sp>
        <p:nvSpPr>
          <p:cNvPr id="3" name="Rounded Rectangle 2"/>
          <p:cNvSpPr/>
          <p:nvPr/>
        </p:nvSpPr>
        <p:spPr>
          <a:xfrm>
            <a:off x="768096" y="850392"/>
            <a:ext cx="9976104" cy="530352"/>
          </a:xfrm>
          <a:prstGeom prst="roundRect">
            <a:avLst>
              <a:gd name="adj" fmla="val 10000"/>
            </a:avLst>
          </a:prstGeom>
          <a:solidFill>
            <a:srgbClr val="FC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50976"/>
            <a:ext cx="9646920" cy="329184"/>
          </a:xfrm>
          <a:prstGeom prst="rect">
            <a:avLst/>
          </a:prstGeom>
          <a:noFill/>
        </p:spPr>
        <p:txBody>
          <a:bodyPr wrap="square" lIns="0" rIns="0" tIns="0" bIns="0">
            <a:spAutoFit/>
          </a:bodyPr>
          <a:lstStyle/>
          <a:p>
            <a:pPr>
              <a:lnSpc>
                <a:spcPct val="116000"/>
              </a:lnSpc>
              <a:spcAft>
                <a:spcPts val="700"/>
              </a:spcAft>
              <a:defRPr sz="1600" b="1">
                <a:solidFill>
                  <a:srgbClr val="1E1530"/>
                </a:solidFill>
                <a:latin typeface="Noto Sans KR"/>
              </a:defRPr>
            </a:pPr>
            <a:r>
              <a:t>기본 5 · 사자성어의 뜻을 내 말로 설명하는 의미 중심 학습</a:t>
            </a:r>
          </a:p>
        </p:txBody>
      </p:sp>
      <p:sp>
        <p:nvSpPr>
          <p:cNvPr id="5" name="TextBox 4"/>
          <p:cNvSpPr txBox="1"/>
          <p:nvPr/>
        </p:nvSpPr>
        <p:spPr>
          <a:xfrm>
            <a:off x="640080" y="6528816"/>
            <a:ext cx="1828800" cy="201168"/>
          </a:xfrm>
          <a:prstGeom prst="rect">
            <a:avLst/>
          </a:prstGeom>
          <a:noFill/>
        </p:spPr>
        <p:txBody>
          <a:bodyPr wrap="square" lIns="0" rIns="0" tIns="0" bIns="0">
            <a:spAutoFit/>
          </a:bodyPr>
          <a:lstStyle/>
          <a:p>
            <a:pPr>
              <a:lnSpc>
                <a:spcPct val="116000"/>
              </a:lnSpc>
              <a:spcAft>
                <a:spcPts val="700"/>
              </a:spcAft>
              <a:defRPr sz="900" b="0">
                <a:solidFill>
                  <a:srgbClr val="665E73"/>
                </a:solidFill>
                <a:latin typeface="Noto Sans KR"/>
              </a:defRPr>
            </a:pPr>
            <a:r>
              <a:t>06 / 12</a:t>
            </a:r>
          </a:p>
        </p:txBody>
      </p:sp>
      <p:sp>
        <p:nvSpPr>
          <p:cNvPr id="6" name="Rounded Rectangle 5"/>
          <p:cNvSpPr/>
          <p:nvPr/>
        </p:nvSpPr>
        <p:spPr>
          <a:xfrm>
            <a:off x="612648" y="1627632"/>
            <a:ext cx="5715000" cy="4562856"/>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diom.png"/>
          <p:cNvPicPr>
            <a:picLocks noChangeAspect="1"/>
          </p:cNvPicPr>
          <p:nvPr/>
        </p:nvPicPr>
        <p:blipFill>
          <a:blip r:embed="rId3"/>
          <a:stretch>
            <a:fillRect/>
          </a:stretch>
        </p:blipFill>
        <p:spPr>
          <a:xfrm>
            <a:off x="1657924" y="1773936"/>
            <a:ext cx="3624447" cy="4279392"/>
          </a:xfrm>
          <a:prstGeom prst="rect">
            <a:avLst/>
          </a:prstGeom>
        </p:spPr>
      </p:pic>
      <p:sp>
        <p:nvSpPr>
          <p:cNvPr id="8" name="Rounded Rectangle 7"/>
          <p:cNvSpPr/>
          <p:nvPr/>
        </p:nvSpPr>
        <p:spPr>
          <a:xfrm>
            <a:off x="6574536" y="1627632"/>
            <a:ext cx="5010912" cy="1362456"/>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75704" y="1773936"/>
            <a:ext cx="4608576" cy="365760"/>
          </a:xfrm>
          <a:prstGeom prst="rect">
            <a:avLst/>
          </a:prstGeom>
          <a:noFill/>
        </p:spPr>
        <p:txBody>
          <a:bodyPr wrap="square" lIns="0" rIns="0" tIns="0" bIns="0">
            <a:spAutoFit/>
          </a:bodyPr>
          <a:lstStyle/>
          <a:p>
            <a:pPr>
              <a:lnSpc>
                <a:spcPct val="116000"/>
              </a:lnSpc>
              <a:spcAft>
                <a:spcPts val="700"/>
              </a:spcAft>
              <a:defRPr sz="1900" b="1">
                <a:solidFill>
                  <a:srgbClr val="7152A2"/>
                </a:solidFill>
                <a:latin typeface="Noto Sans KR"/>
              </a:defRPr>
            </a:pPr>
            <a:r>
              <a:t>1점 · 핵심 단어</a:t>
            </a:r>
          </a:p>
        </p:txBody>
      </p:sp>
      <p:sp>
        <p:nvSpPr>
          <p:cNvPr id="10" name="TextBox 9"/>
          <p:cNvSpPr txBox="1"/>
          <p:nvPr/>
        </p:nvSpPr>
        <p:spPr>
          <a:xfrm>
            <a:off x="6775704" y="2286000"/>
            <a:ext cx="4608576" cy="576072"/>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관련 단어를 찾았지만 설명이 부족한 답</a:t>
            </a:r>
          </a:p>
        </p:txBody>
      </p:sp>
      <p:sp>
        <p:nvSpPr>
          <p:cNvPr id="11" name="Rounded Rectangle 10"/>
          <p:cNvSpPr/>
          <p:nvPr/>
        </p:nvSpPr>
        <p:spPr>
          <a:xfrm>
            <a:off x="6574536" y="3182112"/>
            <a:ext cx="5010912" cy="1362456"/>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75704" y="3328416"/>
            <a:ext cx="4608576" cy="365760"/>
          </a:xfrm>
          <a:prstGeom prst="rect">
            <a:avLst/>
          </a:prstGeom>
          <a:noFill/>
        </p:spPr>
        <p:txBody>
          <a:bodyPr wrap="square" lIns="0" rIns="0" tIns="0" bIns="0">
            <a:spAutoFit/>
          </a:bodyPr>
          <a:lstStyle/>
          <a:p>
            <a:pPr>
              <a:lnSpc>
                <a:spcPct val="116000"/>
              </a:lnSpc>
              <a:spcAft>
                <a:spcPts val="700"/>
              </a:spcAft>
              <a:defRPr sz="1900" b="1">
                <a:solidFill>
                  <a:srgbClr val="7152A2"/>
                </a:solidFill>
                <a:latin typeface="Noto Sans KR"/>
              </a:defRPr>
            </a:pPr>
            <a:r>
              <a:t>3점 · 일부 의미</a:t>
            </a:r>
          </a:p>
        </p:txBody>
      </p:sp>
      <p:sp>
        <p:nvSpPr>
          <p:cNvPr id="13" name="TextBox 12"/>
          <p:cNvSpPr txBox="1"/>
          <p:nvPr/>
        </p:nvSpPr>
        <p:spPr>
          <a:xfrm>
            <a:off x="6775704" y="3840480"/>
            <a:ext cx="4608576" cy="576072"/>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뜻의 방향은 맞지만 전체 설명이 부족한 답</a:t>
            </a:r>
          </a:p>
        </p:txBody>
      </p:sp>
      <p:sp>
        <p:nvSpPr>
          <p:cNvPr id="14" name="Rounded Rectangle 13"/>
          <p:cNvSpPr/>
          <p:nvPr/>
        </p:nvSpPr>
        <p:spPr>
          <a:xfrm>
            <a:off x="6574536" y="4736592"/>
            <a:ext cx="5010912" cy="1362456"/>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75704" y="4882896"/>
            <a:ext cx="4608576" cy="365760"/>
          </a:xfrm>
          <a:prstGeom prst="rect">
            <a:avLst/>
          </a:prstGeom>
          <a:noFill/>
        </p:spPr>
        <p:txBody>
          <a:bodyPr wrap="square" lIns="0" rIns="0" tIns="0" bIns="0">
            <a:spAutoFit/>
          </a:bodyPr>
          <a:lstStyle/>
          <a:p>
            <a:pPr>
              <a:lnSpc>
                <a:spcPct val="116000"/>
              </a:lnSpc>
              <a:spcAft>
                <a:spcPts val="700"/>
              </a:spcAft>
              <a:defRPr sz="1900" b="1">
                <a:solidFill>
                  <a:srgbClr val="7152A2"/>
                </a:solidFill>
                <a:latin typeface="Noto Sans KR"/>
              </a:defRPr>
            </a:pPr>
            <a:r>
              <a:t>5점 · 전체 의미</a:t>
            </a:r>
          </a:p>
        </p:txBody>
      </p:sp>
      <p:sp>
        <p:nvSpPr>
          <p:cNvPr id="16" name="TextBox 15"/>
          <p:cNvSpPr txBox="1"/>
          <p:nvPr/>
        </p:nvSpPr>
        <p:spPr>
          <a:xfrm>
            <a:off x="6775704" y="5394959"/>
            <a:ext cx="4608576" cy="576072"/>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쉬운 말로 전체 뜻을 대체로 설명한 답</a:t>
            </a:r>
          </a:p>
        </p:txBody>
      </p:sp>
    </p:spTree>
    <p:extLst>
      <p:ext uri="{BB962C8B-B14F-4D97-AF65-F5344CB8AC3E}">
        <p14:creationId xmlns:p14="http://schemas.microsoft.com/office/powerpoint/2010/main" val="2140838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256032"/>
            <a:ext cx="10972800" cy="566928"/>
          </a:xfrm>
          <a:prstGeom prst="rect">
            <a:avLst/>
          </a:prstGeom>
          <a:noFill/>
        </p:spPr>
        <p:txBody>
          <a:bodyPr wrap="square" lIns="0" rIns="0" tIns="0" bIns="0">
            <a:spAutoFit/>
          </a:bodyPr>
          <a:lstStyle/>
          <a:p>
            <a:pPr>
              <a:lnSpc>
                <a:spcPct val="116000"/>
              </a:lnSpc>
              <a:spcAft>
                <a:spcPts val="700"/>
              </a:spcAft>
              <a:defRPr sz="3100" b="1">
                <a:solidFill>
                  <a:srgbClr val="1E1530"/>
                </a:solidFill>
                <a:latin typeface="Noto Sans KR"/>
              </a:defRPr>
            </a:pPr>
            <a:r>
              <a:t>과목별구현:(6)초등한자 - 김상도</a:t>
            </a:r>
          </a:p>
        </p:txBody>
      </p:sp>
      <p:sp>
        <p:nvSpPr>
          <p:cNvPr id="3" name="Rounded Rectangle 2"/>
          <p:cNvSpPr/>
          <p:nvPr/>
        </p:nvSpPr>
        <p:spPr>
          <a:xfrm>
            <a:off x="768096" y="850392"/>
            <a:ext cx="9976104" cy="530352"/>
          </a:xfrm>
          <a:prstGeom prst="roundRect">
            <a:avLst>
              <a:gd name="adj" fmla="val 10000"/>
            </a:avLst>
          </a:prstGeom>
          <a:solidFill>
            <a:srgbClr val="FC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50976"/>
            <a:ext cx="9646920" cy="329184"/>
          </a:xfrm>
          <a:prstGeom prst="rect">
            <a:avLst/>
          </a:prstGeom>
          <a:noFill/>
        </p:spPr>
        <p:txBody>
          <a:bodyPr wrap="square" lIns="0" rIns="0" tIns="0" bIns="0">
            <a:spAutoFit/>
          </a:bodyPr>
          <a:lstStyle/>
          <a:p>
            <a:pPr>
              <a:lnSpc>
                <a:spcPct val="116000"/>
              </a:lnSpc>
              <a:spcAft>
                <a:spcPts val="700"/>
              </a:spcAft>
              <a:defRPr sz="1600" b="1">
                <a:solidFill>
                  <a:srgbClr val="1E1530"/>
                </a:solidFill>
                <a:latin typeface="Noto Sans KR"/>
              </a:defRPr>
            </a:pPr>
            <a:r>
              <a:t>심화 1 · 오답 기록과 학습 이력을 활용한 맞춤 복습</a:t>
            </a:r>
          </a:p>
        </p:txBody>
      </p:sp>
      <p:sp>
        <p:nvSpPr>
          <p:cNvPr id="5" name="TextBox 4"/>
          <p:cNvSpPr txBox="1"/>
          <p:nvPr/>
        </p:nvSpPr>
        <p:spPr>
          <a:xfrm>
            <a:off x="640080" y="6528816"/>
            <a:ext cx="1828800" cy="201168"/>
          </a:xfrm>
          <a:prstGeom prst="rect">
            <a:avLst/>
          </a:prstGeom>
          <a:noFill/>
        </p:spPr>
        <p:txBody>
          <a:bodyPr wrap="square" lIns="0" rIns="0" tIns="0" bIns="0">
            <a:spAutoFit/>
          </a:bodyPr>
          <a:lstStyle/>
          <a:p>
            <a:pPr>
              <a:lnSpc>
                <a:spcPct val="116000"/>
              </a:lnSpc>
              <a:spcAft>
                <a:spcPts val="700"/>
              </a:spcAft>
              <a:defRPr sz="900" b="0">
                <a:solidFill>
                  <a:srgbClr val="665E73"/>
                </a:solidFill>
                <a:latin typeface="Noto Sans KR"/>
              </a:defRPr>
            </a:pPr>
            <a:r>
              <a:t>07 / 12</a:t>
            </a:r>
          </a:p>
        </p:txBody>
      </p:sp>
      <p:sp>
        <p:nvSpPr>
          <p:cNvPr id="6" name="Rounded Rectangle 5"/>
          <p:cNvSpPr/>
          <p:nvPr/>
        </p:nvSpPr>
        <p:spPr>
          <a:xfrm>
            <a:off x="612648" y="1627632"/>
            <a:ext cx="6949440" cy="4562856"/>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eview.png"/>
          <p:cNvPicPr>
            <a:picLocks noChangeAspect="1"/>
          </p:cNvPicPr>
          <p:nvPr/>
        </p:nvPicPr>
        <p:blipFill>
          <a:blip r:embed="rId3"/>
          <a:stretch>
            <a:fillRect/>
          </a:stretch>
        </p:blipFill>
        <p:spPr>
          <a:xfrm>
            <a:off x="794706" y="1920240"/>
            <a:ext cx="6585322" cy="3858768"/>
          </a:xfrm>
          <a:prstGeom prst="rect">
            <a:avLst/>
          </a:prstGeom>
        </p:spPr>
      </p:pic>
      <p:sp>
        <p:nvSpPr>
          <p:cNvPr id="8" name="Rounded Rectangle 7"/>
          <p:cNvSpPr/>
          <p:nvPr/>
        </p:nvSpPr>
        <p:spPr>
          <a:xfrm>
            <a:off x="7799831" y="1627632"/>
            <a:ext cx="3785615" cy="2496312"/>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1773936"/>
            <a:ext cx="3383279" cy="365760"/>
          </a:xfrm>
          <a:prstGeom prst="rect">
            <a:avLst/>
          </a:prstGeom>
          <a:noFill/>
        </p:spPr>
        <p:txBody>
          <a:bodyPr wrap="square" lIns="0" rIns="0" tIns="0" bIns="0">
            <a:spAutoFit/>
          </a:bodyPr>
          <a:lstStyle/>
          <a:p>
            <a:pPr>
              <a:lnSpc>
                <a:spcPct val="116000"/>
              </a:lnSpc>
              <a:spcAft>
                <a:spcPts val="700"/>
              </a:spcAft>
              <a:defRPr sz="1900" b="1">
                <a:solidFill>
                  <a:srgbClr val="7152A2"/>
                </a:solidFill>
                <a:latin typeface="Noto Sans KR"/>
              </a:defRPr>
            </a:pPr>
            <a:r>
              <a:t>오답 복습과 기록 관리</a:t>
            </a:r>
          </a:p>
        </p:txBody>
      </p:sp>
      <p:sp>
        <p:nvSpPr>
          <p:cNvPr id="10" name="TextBox 9"/>
          <p:cNvSpPr txBox="1"/>
          <p:nvPr/>
        </p:nvSpPr>
        <p:spPr>
          <a:xfrm>
            <a:off x="8001000" y="2286000"/>
            <a:ext cx="3383279" cy="1709928"/>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틀린 한자를 다시 학습</a:t>
            </a:r>
          </a:p>
          <a:p>
            <a:pPr>
              <a:lnSpc>
                <a:spcPct val="116000"/>
              </a:lnSpc>
              <a:spcAft>
                <a:spcPts val="700"/>
              </a:spcAft>
              <a:defRPr sz="1600" b="0">
                <a:solidFill>
                  <a:srgbClr val="1E1530"/>
                </a:solidFill>
                <a:latin typeface="Noto Sans KR"/>
              </a:defRPr>
            </a:pPr>
            <a:r>
              <a:t>누적 오답에서 취약 주제 탐색</a:t>
            </a:r>
          </a:p>
          <a:p>
            <a:pPr>
              <a:lnSpc>
                <a:spcPct val="116000"/>
              </a:lnSpc>
              <a:spcAft>
                <a:spcPts val="700"/>
              </a:spcAft>
              <a:defRPr sz="1600" b="0">
                <a:solidFill>
                  <a:srgbClr val="1E1530"/>
                </a:solidFill>
                <a:latin typeface="Noto Sans KR"/>
              </a:defRPr>
            </a:pPr>
            <a:r>
              <a:t>저장된 풀이·점수·피드백 확인</a:t>
            </a:r>
          </a:p>
        </p:txBody>
      </p:sp>
      <p:sp>
        <p:nvSpPr>
          <p:cNvPr id="11" name="Rounded Rectangle 10"/>
          <p:cNvSpPr/>
          <p:nvPr/>
        </p:nvSpPr>
        <p:spPr>
          <a:xfrm>
            <a:off x="7799831" y="4334256"/>
            <a:ext cx="3785615" cy="1856231"/>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4480560"/>
            <a:ext cx="3383279" cy="365760"/>
          </a:xfrm>
          <a:prstGeom prst="rect">
            <a:avLst/>
          </a:prstGeom>
          <a:noFill/>
        </p:spPr>
        <p:txBody>
          <a:bodyPr wrap="square" lIns="0" rIns="0" tIns="0" bIns="0">
            <a:spAutoFit/>
          </a:bodyPr>
          <a:lstStyle/>
          <a:p>
            <a:pPr>
              <a:lnSpc>
                <a:spcPct val="116000"/>
              </a:lnSpc>
              <a:spcAft>
                <a:spcPts val="700"/>
              </a:spcAft>
              <a:defRPr sz="1900" b="1">
                <a:solidFill>
                  <a:srgbClr val="7152A2"/>
                </a:solidFill>
                <a:latin typeface="Noto Sans KR"/>
              </a:defRPr>
            </a:pPr>
            <a:r>
              <a:t>한 번 푼 문제를 이어서 활용</a:t>
            </a:r>
          </a:p>
        </p:txBody>
      </p:sp>
      <p:sp>
        <p:nvSpPr>
          <p:cNvPr id="13" name="TextBox 12"/>
          <p:cNvSpPr txBox="1"/>
          <p:nvPr/>
        </p:nvSpPr>
        <p:spPr>
          <a:xfrm>
            <a:off x="8001000" y="4992624"/>
            <a:ext cx="3383279" cy="1069848"/>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취약 내용 맞춤 복습</a:t>
            </a:r>
          </a:p>
          <a:p>
            <a:pPr>
              <a:lnSpc>
                <a:spcPct val="116000"/>
              </a:lnSpc>
              <a:spcAft>
                <a:spcPts val="700"/>
              </a:spcAft>
              <a:defRPr sz="1600" b="0">
                <a:solidFill>
                  <a:srgbClr val="1E1530"/>
                </a:solidFill>
                <a:latin typeface="Noto Sans KR"/>
              </a:defRPr>
            </a:pPr>
            <a:r>
              <a:t>즐겨찾기와 학습 기록</a:t>
            </a:r>
          </a:p>
          <a:p>
            <a:pPr>
              <a:lnSpc>
                <a:spcPct val="116000"/>
              </a:lnSpc>
              <a:spcAft>
                <a:spcPts val="700"/>
              </a:spcAft>
              <a:defRPr sz="1600" b="0">
                <a:solidFill>
                  <a:srgbClr val="1E1530"/>
                </a:solidFill>
                <a:latin typeface="Noto Sans KR"/>
              </a:defRPr>
            </a:pPr>
            <a:r>
              <a:t>AI 선생님께 추가 질문</a:t>
            </a:r>
          </a:p>
        </p:txBody>
      </p:sp>
    </p:spTree>
    <p:extLst>
      <p:ext uri="{BB962C8B-B14F-4D97-AF65-F5344CB8AC3E}">
        <p14:creationId xmlns:p14="http://schemas.microsoft.com/office/powerpoint/2010/main" val="3557063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256032"/>
            <a:ext cx="10972800" cy="566928"/>
          </a:xfrm>
          <a:prstGeom prst="rect">
            <a:avLst/>
          </a:prstGeom>
          <a:noFill/>
        </p:spPr>
        <p:txBody>
          <a:bodyPr wrap="square" lIns="0" rIns="0" tIns="0" bIns="0">
            <a:spAutoFit/>
          </a:bodyPr>
          <a:lstStyle/>
          <a:p>
            <a:pPr>
              <a:lnSpc>
                <a:spcPct val="116000"/>
              </a:lnSpc>
              <a:spcAft>
                <a:spcPts val="700"/>
              </a:spcAft>
              <a:defRPr sz="3100" b="1">
                <a:solidFill>
                  <a:srgbClr val="1E1530"/>
                </a:solidFill>
                <a:latin typeface="Noto Sans KR"/>
              </a:defRPr>
            </a:pPr>
            <a:r>
              <a:t>과목별구현:(6)초등한자 - 김상도</a:t>
            </a:r>
          </a:p>
        </p:txBody>
      </p:sp>
      <p:sp>
        <p:nvSpPr>
          <p:cNvPr id="3" name="Rounded Rectangle 2"/>
          <p:cNvSpPr/>
          <p:nvPr/>
        </p:nvSpPr>
        <p:spPr>
          <a:xfrm>
            <a:off x="768096" y="850392"/>
            <a:ext cx="9976104" cy="530352"/>
          </a:xfrm>
          <a:prstGeom prst="roundRect">
            <a:avLst>
              <a:gd name="adj" fmla="val 10000"/>
            </a:avLst>
          </a:prstGeom>
          <a:solidFill>
            <a:srgbClr val="FC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50976"/>
            <a:ext cx="9646920" cy="329184"/>
          </a:xfrm>
          <a:prstGeom prst="rect">
            <a:avLst/>
          </a:prstGeom>
          <a:noFill/>
        </p:spPr>
        <p:txBody>
          <a:bodyPr wrap="square" lIns="0" rIns="0" tIns="0" bIns="0">
            <a:spAutoFit/>
          </a:bodyPr>
          <a:lstStyle/>
          <a:p>
            <a:pPr>
              <a:lnSpc>
                <a:spcPct val="116000"/>
              </a:lnSpc>
              <a:spcAft>
                <a:spcPts val="700"/>
              </a:spcAft>
              <a:defRPr sz="1600" b="1">
                <a:solidFill>
                  <a:srgbClr val="1E1530"/>
                </a:solidFill>
                <a:latin typeface="Noto Sans KR"/>
              </a:defRPr>
            </a:pPr>
            <a:r>
              <a:t>심화 2 · 대화형 이의제기와 AI 재검토</a:t>
            </a:r>
          </a:p>
        </p:txBody>
      </p:sp>
      <p:sp>
        <p:nvSpPr>
          <p:cNvPr id="5" name="TextBox 4"/>
          <p:cNvSpPr txBox="1"/>
          <p:nvPr/>
        </p:nvSpPr>
        <p:spPr>
          <a:xfrm>
            <a:off x="640080" y="6528816"/>
            <a:ext cx="1828800" cy="201168"/>
          </a:xfrm>
          <a:prstGeom prst="rect">
            <a:avLst/>
          </a:prstGeom>
          <a:noFill/>
        </p:spPr>
        <p:txBody>
          <a:bodyPr wrap="square" lIns="0" rIns="0" tIns="0" bIns="0">
            <a:spAutoFit/>
          </a:bodyPr>
          <a:lstStyle/>
          <a:p>
            <a:pPr>
              <a:lnSpc>
                <a:spcPct val="116000"/>
              </a:lnSpc>
              <a:spcAft>
                <a:spcPts val="700"/>
              </a:spcAft>
              <a:defRPr sz="900" b="0">
                <a:solidFill>
                  <a:srgbClr val="665E73"/>
                </a:solidFill>
                <a:latin typeface="Noto Sans KR"/>
              </a:defRPr>
            </a:pPr>
            <a:r>
              <a:t>08 / 12</a:t>
            </a:r>
          </a:p>
        </p:txBody>
      </p:sp>
      <p:sp>
        <p:nvSpPr>
          <p:cNvPr id="6" name="Rounded Rectangle 5"/>
          <p:cNvSpPr/>
          <p:nvPr/>
        </p:nvSpPr>
        <p:spPr>
          <a:xfrm>
            <a:off x="612648" y="1627632"/>
            <a:ext cx="3236976" cy="4562856"/>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ppeal.png"/>
          <p:cNvPicPr>
            <a:picLocks noChangeAspect="1"/>
          </p:cNvPicPr>
          <p:nvPr/>
        </p:nvPicPr>
        <p:blipFill>
          <a:blip r:embed="rId3"/>
          <a:stretch>
            <a:fillRect/>
          </a:stretch>
        </p:blipFill>
        <p:spPr>
          <a:xfrm>
            <a:off x="893599" y="1810512"/>
            <a:ext cx="2675072" cy="4197096"/>
          </a:xfrm>
          <a:prstGeom prst="rect">
            <a:avLst/>
          </a:prstGeom>
        </p:spPr>
      </p:pic>
      <p:sp>
        <p:nvSpPr>
          <p:cNvPr id="8" name="Rounded Rectangle 7"/>
          <p:cNvSpPr/>
          <p:nvPr/>
        </p:nvSpPr>
        <p:spPr>
          <a:xfrm>
            <a:off x="4114800" y="1627632"/>
            <a:ext cx="7470648" cy="1344168"/>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3400" y="1810512"/>
            <a:ext cx="640080" cy="457200"/>
          </a:xfrm>
          <a:prstGeom prst="rect">
            <a:avLst/>
          </a:prstGeom>
          <a:noFill/>
        </p:spPr>
        <p:txBody>
          <a:bodyPr wrap="square" lIns="0" rIns="0" tIns="0" bIns="0">
            <a:spAutoFit/>
          </a:bodyPr>
          <a:lstStyle/>
          <a:p>
            <a:pPr>
              <a:lnSpc>
                <a:spcPct val="116000"/>
              </a:lnSpc>
              <a:spcAft>
                <a:spcPts val="700"/>
              </a:spcAft>
              <a:defRPr sz="2500" b="1">
                <a:solidFill>
                  <a:srgbClr val="7152A2"/>
                </a:solidFill>
                <a:latin typeface="Noto Sans KR"/>
              </a:defRPr>
            </a:pPr>
            <a:r>
              <a:t>01</a:t>
            </a:r>
          </a:p>
        </p:txBody>
      </p:sp>
      <p:sp>
        <p:nvSpPr>
          <p:cNvPr id="10" name="TextBox 9"/>
          <p:cNvSpPr txBox="1"/>
          <p:nvPr/>
        </p:nvSpPr>
        <p:spPr>
          <a:xfrm>
            <a:off x="5102352" y="1773936"/>
            <a:ext cx="6217920" cy="320040"/>
          </a:xfrm>
          <a:prstGeom prst="rect">
            <a:avLst/>
          </a:prstGeom>
          <a:noFill/>
        </p:spPr>
        <p:txBody>
          <a:bodyPr wrap="square" lIns="0" rIns="0" tIns="0" bIns="0">
            <a:spAutoFit/>
          </a:bodyPr>
          <a:lstStyle/>
          <a:p>
            <a:pPr>
              <a:lnSpc>
                <a:spcPct val="116000"/>
              </a:lnSpc>
              <a:spcAft>
                <a:spcPts val="700"/>
              </a:spcAft>
              <a:defRPr sz="2000" b="1">
                <a:solidFill>
                  <a:srgbClr val="1E1530"/>
                </a:solidFill>
                <a:latin typeface="Noto Sans KR"/>
              </a:defRPr>
            </a:pPr>
            <a:r>
              <a:t>기본 채점 결과에서만 표시</a:t>
            </a:r>
          </a:p>
        </p:txBody>
      </p:sp>
      <p:sp>
        <p:nvSpPr>
          <p:cNvPr id="11" name="TextBox 10"/>
          <p:cNvSpPr txBox="1"/>
          <p:nvPr/>
        </p:nvSpPr>
        <p:spPr>
          <a:xfrm>
            <a:off x="5102352" y="2295144"/>
            <a:ext cx="6126480" cy="457200"/>
          </a:xfrm>
          <a:prstGeom prst="rect">
            <a:avLst/>
          </a:prstGeom>
          <a:noFill/>
        </p:spPr>
        <p:txBody>
          <a:bodyPr wrap="square" lIns="0" rIns="0" tIns="0" bIns="0">
            <a:spAutoFit/>
          </a:bodyPr>
          <a:lstStyle/>
          <a:p>
            <a:pPr>
              <a:lnSpc>
                <a:spcPct val="116000"/>
              </a:lnSpc>
              <a:spcAft>
                <a:spcPts val="700"/>
              </a:spcAft>
              <a:defRPr sz="1500" b="0">
                <a:solidFill>
                  <a:srgbClr val="1E1530"/>
                </a:solidFill>
                <a:latin typeface="Noto Sans KR"/>
              </a:defRPr>
            </a:pPr>
            <a:r>
              <a:t>AI가 이미 채점한 결과에는 버튼을 표시하지 않음</a:t>
            </a:r>
          </a:p>
        </p:txBody>
      </p:sp>
      <p:sp>
        <p:nvSpPr>
          <p:cNvPr id="12" name="Rounded Rectangle 11"/>
          <p:cNvSpPr/>
          <p:nvPr/>
        </p:nvSpPr>
        <p:spPr>
          <a:xfrm>
            <a:off x="4114800" y="3163824"/>
            <a:ext cx="7470648" cy="1344168"/>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400" y="3346704"/>
            <a:ext cx="640080" cy="457200"/>
          </a:xfrm>
          <a:prstGeom prst="rect">
            <a:avLst/>
          </a:prstGeom>
          <a:noFill/>
        </p:spPr>
        <p:txBody>
          <a:bodyPr wrap="square" lIns="0" rIns="0" tIns="0" bIns="0">
            <a:spAutoFit/>
          </a:bodyPr>
          <a:lstStyle/>
          <a:p>
            <a:pPr>
              <a:lnSpc>
                <a:spcPct val="116000"/>
              </a:lnSpc>
              <a:spcAft>
                <a:spcPts val="700"/>
              </a:spcAft>
              <a:defRPr sz="2500" b="1">
                <a:solidFill>
                  <a:srgbClr val="7152A2"/>
                </a:solidFill>
                <a:latin typeface="Noto Sans KR"/>
              </a:defRPr>
            </a:pPr>
            <a:r>
              <a:t>02</a:t>
            </a:r>
          </a:p>
        </p:txBody>
      </p:sp>
      <p:sp>
        <p:nvSpPr>
          <p:cNvPr id="14" name="TextBox 13"/>
          <p:cNvSpPr txBox="1"/>
          <p:nvPr/>
        </p:nvSpPr>
        <p:spPr>
          <a:xfrm>
            <a:off x="5102352" y="3310128"/>
            <a:ext cx="6217920" cy="320040"/>
          </a:xfrm>
          <a:prstGeom prst="rect">
            <a:avLst/>
          </a:prstGeom>
          <a:noFill/>
        </p:spPr>
        <p:txBody>
          <a:bodyPr wrap="square" lIns="0" rIns="0" tIns="0" bIns="0">
            <a:spAutoFit/>
          </a:bodyPr>
          <a:lstStyle/>
          <a:p>
            <a:pPr>
              <a:lnSpc>
                <a:spcPct val="116000"/>
              </a:lnSpc>
              <a:spcAft>
                <a:spcPts val="700"/>
              </a:spcAft>
              <a:defRPr sz="2000" b="1">
                <a:solidFill>
                  <a:srgbClr val="1E1530"/>
                </a:solidFill>
                <a:latin typeface="Noto Sans KR"/>
              </a:defRPr>
            </a:pPr>
            <a:r>
              <a:t>원래 답안과 이의 사유를 재검토</a:t>
            </a:r>
          </a:p>
        </p:txBody>
      </p:sp>
      <p:sp>
        <p:nvSpPr>
          <p:cNvPr id="15" name="TextBox 14"/>
          <p:cNvSpPr txBox="1"/>
          <p:nvPr/>
        </p:nvSpPr>
        <p:spPr>
          <a:xfrm>
            <a:off x="5102352" y="3831335"/>
            <a:ext cx="6126480" cy="457200"/>
          </a:xfrm>
          <a:prstGeom prst="rect">
            <a:avLst/>
          </a:prstGeom>
          <a:noFill/>
        </p:spPr>
        <p:txBody>
          <a:bodyPr wrap="square" lIns="0" rIns="0" tIns="0" bIns="0">
            <a:spAutoFit/>
          </a:bodyPr>
          <a:lstStyle/>
          <a:p>
            <a:pPr>
              <a:lnSpc>
                <a:spcPct val="116000"/>
              </a:lnSpc>
              <a:spcAft>
                <a:spcPts val="700"/>
              </a:spcAft>
              <a:defRPr sz="1500" b="0">
                <a:solidFill>
                  <a:srgbClr val="1E1530"/>
                </a:solidFill>
                <a:latin typeface="Noto Sans KR"/>
              </a:defRPr>
            </a:pPr>
            <a:r>
              <a:t>학생의 사유를 받아 AI가 답안의 타당성을 판단</a:t>
            </a:r>
          </a:p>
        </p:txBody>
      </p:sp>
      <p:sp>
        <p:nvSpPr>
          <p:cNvPr id="16" name="Rounded Rectangle 15"/>
          <p:cNvSpPr/>
          <p:nvPr/>
        </p:nvSpPr>
        <p:spPr>
          <a:xfrm>
            <a:off x="4114800" y="4700016"/>
            <a:ext cx="7470648" cy="1344168"/>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43400" y="4882896"/>
            <a:ext cx="640080" cy="457200"/>
          </a:xfrm>
          <a:prstGeom prst="rect">
            <a:avLst/>
          </a:prstGeom>
          <a:noFill/>
        </p:spPr>
        <p:txBody>
          <a:bodyPr wrap="square" lIns="0" rIns="0" tIns="0" bIns="0">
            <a:spAutoFit/>
          </a:bodyPr>
          <a:lstStyle/>
          <a:p>
            <a:pPr>
              <a:lnSpc>
                <a:spcPct val="116000"/>
              </a:lnSpc>
              <a:spcAft>
                <a:spcPts val="700"/>
              </a:spcAft>
              <a:defRPr sz="2500" b="1">
                <a:solidFill>
                  <a:srgbClr val="7152A2"/>
                </a:solidFill>
                <a:latin typeface="Noto Sans KR"/>
              </a:defRPr>
            </a:pPr>
            <a:r>
              <a:t>03</a:t>
            </a:r>
          </a:p>
        </p:txBody>
      </p:sp>
      <p:sp>
        <p:nvSpPr>
          <p:cNvPr id="18" name="TextBox 17"/>
          <p:cNvSpPr txBox="1"/>
          <p:nvPr/>
        </p:nvSpPr>
        <p:spPr>
          <a:xfrm>
            <a:off x="5102352" y="4846320"/>
            <a:ext cx="6217920" cy="320040"/>
          </a:xfrm>
          <a:prstGeom prst="rect">
            <a:avLst/>
          </a:prstGeom>
          <a:noFill/>
        </p:spPr>
        <p:txBody>
          <a:bodyPr wrap="square" lIns="0" rIns="0" tIns="0" bIns="0">
            <a:spAutoFit/>
          </a:bodyPr>
          <a:lstStyle/>
          <a:p>
            <a:pPr>
              <a:lnSpc>
                <a:spcPct val="116000"/>
              </a:lnSpc>
              <a:spcAft>
                <a:spcPts val="700"/>
              </a:spcAft>
              <a:defRPr sz="2000" b="1">
                <a:solidFill>
                  <a:srgbClr val="1E1530"/>
                </a:solidFill>
                <a:latin typeface="Noto Sans KR"/>
              </a:defRPr>
            </a:pPr>
            <a:r>
              <a:t>인정된 차액만 점수에 반영</a:t>
            </a:r>
          </a:p>
        </p:txBody>
      </p:sp>
      <p:sp>
        <p:nvSpPr>
          <p:cNvPr id="19" name="TextBox 18"/>
          <p:cNvSpPr txBox="1"/>
          <p:nvPr/>
        </p:nvSpPr>
        <p:spPr>
          <a:xfrm>
            <a:off x="5102352" y="5367527"/>
            <a:ext cx="6126480" cy="457200"/>
          </a:xfrm>
          <a:prstGeom prst="rect">
            <a:avLst/>
          </a:prstGeom>
          <a:noFill/>
        </p:spPr>
        <p:txBody>
          <a:bodyPr wrap="square" lIns="0" rIns="0" tIns="0" bIns="0">
            <a:spAutoFit/>
          </a:bodyPr>
          <a:lstStyle/>
          <a:p>
            <a:pPr>
              <a:lnSpc>
                <a:spcPct val="116000"/>
              </a:lnSpc>
              <a:spcAft>
                <a:spcPts val="700"/>
              </a:spcAft>
              <a:defRPr sz="1500" b="0">
                <a:solidFill>
                  <a:srgbClr val="1E1530"/>
                </a:solidFill>
                <a:latin typeface="Noto Sans KR"/>
              </a:defRPr>
            </a:pPr>
            <a:r>
              <a:t>기존 점수는 유지하고 동일 요청의 중복 지급 방지</a:t>
            </a:r>
          </a:p>
        </p:txBody>
      </p:sp>
    </p:spTree>
    <p:extLst>
      <p:ext uri="{BB962C8B-B14F-4D97-AF65-F5344CB8AC3E}">
        <p14:creationId xmlns:p14="http://schemas.microsoft.com/office/powerpoint/2010/main" val="339382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256032"/>
            <a:ext cx="10972800" cy="566928"/>
          </a:xfrm>
          <a:prstGeom prst="rect">
            <a:avLst/>
          </a:prstGeom>
          <a:noFill/>
        </p:spPr>
        <p:txBody>
          <a:bodyPr wrap="square" lIns="0" rIns="0" tIns="0" bIns="0">
            <a:spAutoFit/>
          </a:bodyPr>
          <a:lstStyle/>
          <a:p>
            <a:pPr>
              <a:lnSpc>
                <a:spcPct val="116000"/>
              </a:lnSpc>
              <a:spcAft>
                <a:spcPts val="700"/>
              </a:spcAft>
              <a:defRPr sz="3100" b="1">
                <a:solidFill>
                  <a:srgbClr val="1E1530"/>
                </a:solidFill>
                <a:latin typeface="Noto Sans KR"/>
              </a:defRPr>
            </a:pPr>
            <a:r>
              <a:t>과목별구현:(6)초등한자 - 김상도</a:t>
            </a:r>
          </a:p>
        </p:txBody>
      </p:sp>
      <p:sp>
        <p:nvSpPr>
          <p:cNvPr id="3" name="Rounded Rectangle 2"/>
          <p:cNvSpPr/>
          <p:nvPr/>
        </p:nvSpPr>
        <p:spPr>
          <a:xfrm>
            <a:off x="768096" y="850392"/>
            <a:ext cx="9976104" cy="530352"/>
          </a:xfrm>
          <a:prstGeom prst="roundRect">
            <a:avLst>
              <a:gd name="adj" fmla="val 10000"/>
            </a:avLst>
          </a:prstGeom>
          <a:solidFill>
            <a:srgbClr val="FC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50976"/>
            <a:ext cx="9646920" cy="329184"/>
          </a:xfrm>
          <a:prstGeom prst="rect">
            <a:avLst/>
          </a:prstGeom>
          <a:noFill/>
        </p:spPr>
        <p:txBody>
          <a:bodyPr wrap="square" lIns="0" rIns="0" tIns="0" bIns="0">
            <a:spAutoFit/>
          </a:bodyPr>
          <a:lstStyle/>
          <a:p>
            <a:pPr>
              <a:lnSpc>
                <a:spcPct val="116000"/>
              </a:lnSpc>
              <a:spcAft>
                <a:spcPts val="700"/>
              </a:spcAft>
              <a:defRPr sz="1600" b="1">
                <a:solidFill>
                  <a:srgbClr val="1E1530"/>
                </a:solidFill>
                <a:latin typeface="Noto Sans KR"/>
              </a:defRPr>
            </a:pPr>
            <a:r>
              <a:t>심화 3 · “AI 한자어 퀴즈” 하이브리드 탭 구현</a:t>
            </a:r>
          </a:p>
        </p:txBody>
      </p:sp>
      <p:sp>
        <p:nvSpPr>
          <p:cNvPr id="5" name="TextBox 4"/>
          <p:cNvSpPr txBox="1"/>
          <p:nvPr/>
        </p:nvSpPr>
        <p:spPr>
          <a:xfrm>
            <a:off x="640080" y="6528816"/>
            <a:ext cx="1828800" cy="201168"/>
          </a:xfrm>
          <a:prstGeom prst="rect">
            <a:avLst/>
          </a:prstGeom>
          <a:noFill/>
        </p:spPr>
        <p:txBody>
          <a:bodyPr wrap="square" lIns="0" rIns="0" tIns="0" bIns="0">
            <a:spAutoFit/>
          </a:bodyPr>
          <a:lstStyle/>
          <a:p>
            <a:pPr>
              <a:lnSpc>
                <a:spcPct val="116000"/>
              </a:lnSpc>
              <a:spcAft>
                <a:spcPts val="700"/>
              </a:spcAft>
              <a:defRPr sz="900" b="0">
                <a:solidFill>
                  <a:srgbClr val="665E73"/>
                </a:solidFill>
                <a:latin typeface="Noto Sans KR"/>
              </a:defRPr>
            </a:pPr>
            <a:r>
              <a:t>09 / 12</a:t>
            </a:r>
          </a:p>
        </p:txBody>
      </p:sp>
      <p:sp>
        <p:nvSpPr>
          <p:cNvPr id="6" name="Rounded Rectangle 5"/>
          <p:cNvSpPr/>
          <p:nvPr/>
        </p:nvSpPr>
        <p:spPr>
          <a:xfrm>
            <a:off x="612648" y="1627632"/>
            <a:ext cx="5989320" cy="4562856"/>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ank-off.png"/>
          <p:cNvPicPr>
            <a:picLocks noChangeAspect="1"/>
          </p:cNvPicPr>
          <p:nvPr/>
        </p:nvPicPr>
        <p:blipFill>
          <a:blip r:embed="rId3"/>
          <a:stretch>
            <a:fillRect/>
          </a:stretch>
        </p:blipFill>
        <p:spPr>
          <a:xfrm>
            <a:off x="1156734" y="1783080"/>
            <a:ext cx="4901147" cy="4251960"/>
          </a:xfrm>
          <a:prstGeom prst="rect">
            <a:avLst/>
          </a:prstGeom>
        </p:spPr>
      </p:pic>
      <p:sp>
        <p:nvSpPr>
          <p:cNvPr id="8" name="Rounded Rectangle 7"/>
          <p:cNvSpPr/>
          <p:nvPr/>
        </p:nvSpPr>
        <p:spPr>
          <a:xfrm>
            <a:off x="6839712" y="1627632"/>
            <a:ext cx="4745736" cy="2139696"/>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0" y="1773936"/>
            <a:ext cx="4343400" cy="365760"/>
          </a:xfrm>
          <a:prstGeom prst="rect">
            <a:avLst/>
          </a:prstGeom>
          <a:noFill/>
        </p:spPr>
        <p:txBody>
          <a:bodyPr wrap="square" lIns="0" rIns="0" tIns="0" bIns="0">
            <a:spAutoFit/>
          </a:bodyPr>
          <a:lstStyle/>
          <a:p>
            <a:pPr>
              <a:lnSpc>
                <a:spcPct val="116000"/>
              </a:lnSpc>
              <a:spcAft>
                <a:spcPts val="700"/>
              </a:spcAft>
              <a:defRPr sz="1900" b="1">
                <a:solidFill>
                  <a:srgbClr val="7152A2"/>
                </a:solidFill>
                <a:latin typeface="Noto Sans KR"/>
              </a:defRPr>
            </a:pPr>
            <a:r>
              <a:t>문제은행 모드 · OFF</a:t>
            </a:r>
          </a:p>
        </p:txBody>
      </p:sp>
      <p:sp>
        <p:nvSpPr>
          <p:cNvPr id="10" name="TextBox 9"/>
          <p:cNvSpPr txBox="1"/>
          <p:nvPr/>
        </p:nvSpPr>
        <p:spPr>
          <a:xfrm>
            <a:off x="7040880" y="2286000"/>
            <a:ext cx="4343400" cy="1353312"/>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저장된 문제를 먼저 출제</a:t>
            </a:r>
          </a:p>
          <a:p>
            <a:pPr>
              <a:lnSpc>
                <a:spcPct val="116000"/>
              </a:lnSpc>
              <a:spcAft>
                <a:spcPts val="700"/>
              </a:spcAft>
              <a:defRPr sz="1600" b="0">
                <a:solidFill>
                  <a:srgbClr val="1E1530"/>
                </a:solidFill>
                <a:latin typeface="Noto Sans KR"/>
              </a:defRPr>
            </a:pPr>
            <a:r>
              <a:t>맞힌 한자어 / 전체 한자어 표시</a:t>
            </a:r>
          </a:p>
          <a:p>
            <a:pPr>
              <a:lnSpc>
                <a:spcPct val="116000"/>
              </a:lnSpc>
              <a:spcAft>
                <a:spcPts val="700"/>
              </a:spcAft>
              <a:defRPr sz="1600" b="0">
                <a:solidFill>
                  <a:srgbClr val="1E1530"/>
                </a:solidFill>
                <a:latin typeface="Noto Sans KR"/>
              </a:defRPr>
            </a:pPr>
            <a:r>
              <a:t>풀이 결과와 누적 포인트 저장</a:t>
            </a:r>
          </a:p>
        </p:txBody>
      </p:sp>
      <p:sp>
        <p:nvSpPr>
          <p:cNvPr id="11" name="Rounded Rectangle 10"/>
          <p:cNvSpPr/>
          <p:nvPr/>
        </p:nvSpPr>
        <p:spPr>
          <a:xfrm>
            <a:off x="6839712" y="3977639"/>
            <a:ext cx="4745736" cy="2212848"/>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4123944"/>
            <a:ext cx="4343400" cy="365760"/>
          </a:xfrm>
          <a:prstGeom prst="rect">
            <a:avLst/>
          </a:prstGeom>
          <a:noFill/>
        </p:spPr>
        <p:txBody>
          <a:bodyPr wrap="square" lIns="0" rIns="0" tIns="0" bIns="0">
            <a:spAutoFit/>
          </a:bodyPr>
          <a:lstStyle/>
          <a:p>
            <a:pPr>
              <a:lnSpc>
                <a:spcPct val="116000"/>
              </a:lnSpc>
              <a:spcAft>
                <a:spcPts val="700"/>
              </a:spcAft>
              <a:defRPr sz="1900" b="1">
                <a:solidFill>
                  <a:srgbClr val="7152A2"/>
                </a:solidFill>
                <a:latin typeface="Noto Sans KR"/>
              </a:defRPr>
            </a:pPr>
            <a:r>
              <a:t>4개 단원 구성</a:t>
            </a:r>
          </a:p>
        </p:txBody>
      </p:sp>
      <p:sp>
        <p:nvSpPr>
          <p:cNvPr id="13" name="TextBox 12"/>
          <p:cNvSpPr txBox="1"/>
          <p:nvPr/>
        </p:nvSpPr>
        <p:spPr>
          <a:xfrm>
            <a:off x="7040880" y="4636007"/>
            <a:ext cx="4343400" cy="1426464"/>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9~6급 한자어 · 96개</a:t>
            </a:r>
          </a:p>
          <a:p>
            <a:pPr>
              <a:lnSpc>
                <a:spcPct val="116000"/>
              </a:lnSpc>
              <a:spcAft>
                <a:spcPts val="700"/>
              </a:spcAft>
              <a:defRPr sz="1600" b="0">
                <a:solidFill>
                  <a:srgbClr val="1E1530"/>
                </a:solidFill>
                <a:latin typeface="Noto Sans KR"/>
              </a:defRPr>
            </a:pPr>
            <a:r>
              <a:t>5~1급 한자어 · 42개</a:t>
            </a:r>
          </a:p>
          <a:p>
            <a:pPr>
              <a:lnSpc>
                <a:spcPct val="116000"/>
              </a:lnSpc>
              <a:spcAft>
                <a:spcPts val="700"/>
              </a:spcAft>
              <a:defRPr sz="1600" b="0">
                <a:solidFill>
                  <a:srgbClr val="1E1530"/>
                </a:solidFill>
                <a:latin typeface="Noto Sans KR"/>
              </a:defRPr>
            </a:pPr>
            <a:r>
              <a:t>실용 한자어 · 30개</a:t>
            </a:r>
          </a:p>
          <a:p>
            <a:pPr>
              <a:lnSpc>
                <a:spcPct val="116000"/>
              </a:lnSpc>
              <a:spcAft>
                <a:spcPts val="700"/>
              </a:spcAft>
              <a:defRPr sz="1600" b="0">
                <a:solidFill>
                  <a:srgbClr val="1E1530"/>
                </a:solidFill>
                <a:latin typeface="Noto Sans KR"/>
              </a:defRPr>
            </a:pPr>
            <a:r>
              <a:t>사자성어 · 30개</a:t>
            </a:r>
          </a:p>
        </p:txBody>
      </p:sp>
    </p:spTree>
    <p:extLst>
      <p:ext uri="{BB962C8B-B14F-4D97-AF65-F5344CB8AC3E}">
        <p14:creationId xmlns:p14="http://schemas.microsoft.com/office/powerpoint/2010/main" val="2215316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256032"/>
            <a:ext cx="10972800" cy="566928"/>
          </a:xfrm>
          <a:prstGeom prst="rect">
            <a:avLst/>
          </a:prstGeom>
          <a:noFill/>
        </p:spPr>
        <p:txBody>
          <a:bodyPr wrap="square" lIns="0" rIns="0" tIns="0" bIns="0">
            <a:spAutoFit/>
          </a:bodyPr>
          <a:lstStyle/>
          <a:p>
            <a:pPr>
              <a:lnSpc>
                <a:spcPct val="116000"/>
              </a:lnSpc>
              <a:spcAft>
                <a:spcPts val="700"/>
              </a:spcAft>
              <a:defRPr sz="3100" b="1">
                <a:solidFill>
                  <a:srgbClr val="1E1530"/>
                </a:solidFill>
                <a:latin typeface="Noto Sans KR"/>
              </a:defRPr>
            </a:pPr>
            <a:r>
              <a:t>과목별구현:(6)초등한자 - 김상도</a:t>
            </a:r>
          </a:p>
        </p:txBody>
      </p:sp>
      <p:sp>
        <p:nvSpPr>
          <p:cNvPr id="3" name="Rounded Rectangle 2"/>
          <p:cNvSpPr/>
          <p:nvPr/>
        </p:nvSpPr>
        <p:spPr>
          <a:xfrm>
            <a:off x="768096" y="850392"/>
            <a:ext cx="9976104" cy="530352"/>
          </a:xfrm>
          <a:prstGeom prst="roundRect">
            <a:avLst>
              <a:gd name="adj" fmla="val 10000"/>
            </a:avLst>
          </a:prstGeom>
          <a:solidFill>
            <a:srgbClr val="FC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50976"/>
            <a:ext cx="9646920" cy="329184"/>
          </a:xfrm>
          <a:prstGeom prst="rect">
            <a:avLst/>
          </a:prstGeom>
          <a:noFill/>
        </p:spPr>
        <p:txBody>
          <a:bodyPr wrap="square" lIns="0" rIns="0" tIns="0" bIns="0">
            <a:spAutoFit/>
          </a:bodyPr>
          <a:lstStyle/>
          <a:p>
            <a:pPr>
              <a:lnSpc>
                <a:spcPct val="116000"/>
              </a:lnSpc>
              <a:spcAft>
                <a:spcPts val="700"/>
              </a:spcAft>
              <a:defRPr sz="1600" b="1">
                <a:solidFill>
                  <a:srgbClr val="1E1530"/>
                </a:solidFill>
                <a:latin typeface="Noto Sans KR"/>
              </a:defRPr>
            </a:pPr>
            <a:r>
              <a:t>심화 3 · 저장된 문항과 AI 즉석 생성 문항의 유연한 전환</a:t>
            </a:r>
          </a:p>
        </p:txBody>
      </p:sp>
      <p:sp>
        <p:nvSpPr>
          <p:cNvPr id="5" name="TextBox 4"/>
          <p:cNvSpPr txBox="1"/>
          <p:nvPr/>
        </p:nvSpPr>
        <p:spPr>
          <a:xfrm>
            <a:off x="640080" y="6528816"/>
            <a:ext cx="1828800" cy="201168"/>
          </a:xfrm>
          <a:prstGeom prst="rect">
            <a:avLst/>
          </a:prstGeom>
          <a:noFill/>
        </p:spPr>
        <p:txBody>
          <a:bodyPr wrap="square" lIns="0" rIns="0" tIns="0" bIns="0">
            <a:spAutoFit/>
          </a:bodyPr>
          <a:lstStyle/>
          <a:p>
            <a:pPr>
              <a:lnSpc>
                <a:spcPct val="116000"/>
              </a:lnSpc>
              <a:spcAft>
                <a:spcPts val="700"/>
              </a:spcAft>
              <a:defRPr sz="900" b="0">
                <a:solidFill>
                  <a:srgbClr val="665E73"/>
                </a:solidFill>
                <a:latin typeface="Noto Sans KR"/>
              </a:defRPr>
            </a:pPr>
            <a:r>
              <a:t>10 / 12</a:t>
            </a:r>
          </a:p>
        </p:txBody>
      </p:sp>
      <p:sp>
        <p:nvSpPr>
          <p:cNvPr id="6" name="Rounded Rectangle 5"/>
          <p:cNvSpPr/>
          <p:nvPr/>
        </p:nvSpPr>
        <p:spPr>
          <a:xfrm>
            <a:off x="612648" y="1627632"/>
            <a:ext cx="5989320" cy="4562856"/>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ank-on.png"/>
          <p:cNvPicPr>
            <a:picLocks noChangeAspect="1"/>
          </p:cNvPicPr>
          <p:nvPr/>
        </p:nvPicPr>
        <p:blipFill>
          <a:blip r:embed="rId3"/>
          <a:stretch>
            <a:fillRect/>
          </a:stretch>
        </p:blipFill>
        <p:spPr>
          <a:xfrm>
            <a:off x="914400" y="1783080"/>
            <a:ext cx="5385816" cy="4251960"/>
          </a:xfrm>
          <a:prstGeom prst="rect">
            <a:avLst/>
          </a:prstGeom>
        </p:spPr>
      </p:pic>
      <p:sp>
        <p:nvSpPr>
          <p:cNvPr id="8" name="Rounded Rectangle 7"/>
          <p:cNvSpPr/>
          <p:nvPr/>
        </p:nvSpPr>
        <p:spPr>
          <a:xfrm>
            <a:off x="6839712" y="1627632"/>
            <a:ext cx="4745736" cy="2139696"/>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0" y="1773936"/>
            <a:ext cx="4343400" cy="365760"/>
          </a:xfrm>
          <a:prstGeom prst="rect">
            <a:avLst/>
          </a:prstGeom>
          <a:noFill/>
        </p:spPr>
        <p:txBody>
          <a:bodyPr wrap="square" lIns="0" rIns="0" tIns="0" bIns="0">
            <a:spAutoFit/>
          </a:bodyPr>
          <a:lstStyle/>
          <a:p>
            <a:pPr>
              <a:lnSpc>
                <a:spcPct val="116000"/>
              </a:lnSpc>
              <a:spcAft>
                <a:spcPts val="700"/>
              </a:spcAft>
              <a:defRPr sz="1900" b="1">
                <a:solidFill>
                  <a:srgbClr val="7152A2"/>
                </a:solidFill>
                <a:latin typeface="Noto Sans KR"/>
              </a:defRPr>
            </a:pPr>
            <a:r>
              <a:t>AI 모드 · ON</a:t>
            </a:r>
          </a:p>
        </p:txBody>
      </p:sp>
      <p:sp>
        <p:nvSpPr>
          <p:cNvPr id="10" name="TextBox 9"/>
          <p:cNvSpPr txBox="1"/>
          <p:nvPr/>
        </p:nvSpPr>
        <p:spPr>
          <a:xfrm>
            <a:off x="7040880" y="2286000"/>
            <a:ext cx="4343400" cy="1353312"/>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선택한 단원에 맞춰 즉석 생성</a:t>
            </a:r>
          </a:p>
          <a:p>
            <a:pPr>
              <a:lnSpc>
                <a:spcPct val="116000"/>
              </a:lnSpc>
              <a:spcAft>
                <a:spcPts val="700"/>
              </a:spcAft>
              <a:defRPr sz="1600" b="0">
                <a:solidFill>
                  <a:srgbClr val="1E1530"/>
                </a:solidFill>
                <a:latin typeface="Noto Sans KR"/>
              </a:defRPr>
            </a:pPr>
            <a:r>
              <a:t>문항 유형·배점·보기 형식 검증</a:t>
            </a:r>
          </a:p>
          <a:p>
            <a:pPr>
              <a:lnSpc>
                <a:spcPct val="116000"/>
              </a:lnSpc>
              <a:spcAft>
                <a:spcPts val="700"/>
              </a:spcAft>
              <a:defRPr sz="1600" b="0">
                <a:solidFill>
                  <a:srgbClr val="1E1530"/>
                </a:solidFill>
                <a:latin typeface="Noto Sans KR"/>
              </a:defRPr>
            </a:pPr>
            <a:r>
              <a:t>기존 문제은행과 같은 화면에서 풀이</a:t>
            </a:r>
          </a:p>
        </p:txBody>
      </p:sp>
      <p:sp>
        <p:nvSpPr>
          <p:cNvPr id="11" name="Rounded Rectangle 10"/>
          <p:cNvSpPr/>
          <p:nvPr/>
        </p:nvSpPr>
        <p:spPr>
          <a:xfrm>
            <a:off x="6839712" y="3977639"/>
            <a:ext cx="4745736" cy="2212848"/>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4123944"/>
            <a:ext cx="4343400" cy="365760"/>
          </a:xfrm>
          <a:prstGeom prst="rect">
            <a:avLst/>
          </a:prstGeom>
          <a:noFill/>
        </p:spPr>
        <p:txBody>
          <a:bodyPr wrap="square" lIns="0" rIns="0" tIns="0" bIns="0">
            <a:spAutoFit/>
          </a:bodyPr>
          <a:lstStyle/>
          <a:p>
            <a:pPr>
              <a:lnSpc>
                <a:spcPct val="116000"/>
              </a:lnSpc>
              <a:spcAft>
                <a:spcPts val="700"/>
              </a:spcAft>
              <a:defRPr sz="1900" b="1">
                <a:solidFill>
                  <a:srgbClr val="7152A2"/>
                </a:solidFill>
                <a:latin typeface="Noto Sans KR"/>
              </a:defRPr>
            </a:pPr>
            <a:r>
              <a:t>AI 연결이 어려울 때</a:t>
            </a:r>
          </a:p>
        </p:txBody>
      </p:sp>
      <p:sp>
        <p:nvSpPr>
          <p:cNvPr id="13" name="TextBox 12"/>
          <p:cNvSpPr txBox="1"/>
          <p:nvPr/>
        </p:nvSpPr>
        <p:spPr>
          <a:xfrm>
            <a:off x="7040880" y="4636007"/>
            <a:ext cx="4343400" cy="1426464"/>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미풀이 문제은행 문항으로 대체</a:t>
            </a:r>
          </a:p>
          <a:p>
            <a:pPr>
              <a:lnSpc>
                <a:spcPct val="116000"/>
              </a:lnSpc>
              <a:spcAft>
                <a:spcPts val="700"/>
              </a:spcAft>
              <a:defRPr sz="1600" b="0">
                <a:solidFill>
                  <a:srgbClr val="1E1530"/>
                </a:solidFill>
                <a:latin typeface="Noto Sans KR"/>
              </a:defRPr>
            </a:pPr>
            <a:r>
              <a:t>미풀이가 없으면 기존 문항 복습</a:t>
            </a:r>
          </a:p>
          <a:p>
            <a:pPr>
              <a:lnSpc>
                <a:spcPct val="116000"/>
              </a:lnSpc>
              <a:spcAft>
                <a:spcPts val="700"/>
              </a:spcAft>
              <a:defRPr sz="1600" b="0">
                <a:solidFill>
                  <a:srgbClr val="1E1530"/>
                </a:solidFill>
                <a:latin typeface="Noto Sans KR"/>
              </a:defRPr>
            </a:pPr>
            <a:r>
              <a:t>복습 문항은 누적 포인트 미반영</a:t>
            </a:r>
          </a:p>
        </p:txBody>
      </p:sp>
    </p:spTree>
    <p:extLst>
      <p:ext uri="{BB962C8B-B14F-4D97-AF65-F5344CB8AC3E}">
        <p14:creationId xmlns:p14="http://schemas.microsoft.com/office/powerpoint/2010/main" val="2442496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256032"/>
            <a:ext cx="10972800" cy="566928"/>
          </a:xfrm>
          <a:prstGeom prst="rect">
            <a:avLst/>
          </a:prstGeom>
          <a:noFill/>
        </p:spPr>
        <p:txBody>
          <a:bodyPr wrap="square" lIns="0" rIns="0" tIns="0" bIns="0">
            <a:spAutoFit/>
          </a:bodyPr>
          <a:lstStyle/>
          <a:p>
            <a:pPr>
              <a:lnSpc>
                <a:spcPct val="116000"/>
              </a:lnSpc>
              <a:spcAft>
                <a:spcPts val="700"/>
              </a:spcAft>
              <a:defRPr sz="3100" b="1">
                <a:solidFill>
                  <a:srgbClr val="1E1530"/>
                </a:solidFill>
                <a:latin typeface="Noto Sans KR"/>
              </a:defRPr>
            </a:pPr>
            <a:r>
              <a:t>과목별구현:(6)초등한자 - 김상도</a:t>
            </a:r>
          </a:p>
        </p:txBody>
      </p:sp>
      <p:sp>
        <p:nvSpPr>
          <p:cNvPr id="3" name="Rounded Rectangle 2"/>
          <p:cNvSpPr/>
          <p:nvPr/>
        </p:nvSpPr>
        <p:spPr>
          <a:xfrm>
            <a:off x="768096" y="850392"/>
            <a:ext cx="9976104" cy="530352"/>
          </a:xfrm>
          <a:prstGeom prst="roundRect">
            <a:avLst>
              <a:gd name="adj" fmla="val 10000"/>
            </a:avLst>
          </a:prstGeom>
          <a:solidFill>
            <a:srgbClr val="FC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50976"/>
            <a:ext cx="9646920" cy="329184"/>
          </a:xfrm>
          <a:prstGeom prst="rect">
            <a:avLst/>
          </a:prstGeom>
          <a:noFill/>
        </p:spPr>
        <p:txBody>
          <a:bodyPr wrap="square" lIns="0" rIns="0" tIns="0" bIns="0">
            <a:spAutoFit/>
          </a:bodyPr>
          <a:lstStyle/>
          <a:p>
            <a:pPr>
              <a:lnSpc>
                <a:spcPct val="116000"/>
              </a:lnSpc>
              <a:spcAft>
                <a:spcPts val="700"/>
              </a:spcAft>
              <a:defRPr sz="1600" b="1">
                <a:solidFill>
                  <a:srgbClr val="1E1530"/>
                </a:solidFill>
                <a:latin typeface="Noto Sans KR"/>
              </a:defRPr>
            </a:pPr>
            <a:r>
              <a:t>서비스 완성도 · 점수 보존·중복 지급 방지·복습 정책</a:t>
            </a:r>
          </a:p>
        </p:txBody>
      </p:sp>
      <p:sp>
        <p:nvSpPr>
          <p:cNvPr id="5" name="TextBox 4"/>
          <p:cNvSpPr txBox="1"/>
          <p:nvPr/>
        </p:nvSpPr>
        <p:spPr>
          <a:xfrm>
            <a:off x="640080" y="6528816"/>
            <a:ext cx="1828800" cy="201168"/>
          </a:xfrm>
          <a:prstGeom prst="rect">
            <a:avLst/>
          </a:prstGeom>
          <a:noFill/>
        </p:spPr>
        <p:txBody>
          <a:bodyPr wrap="square" lIns="0" rIns="0" tIns="0" bIns="0">
            <a:spAutoFit/>
          </a:bodyPr>
          <a:lstStyle/>
          <a:p>
            <a:pPr>
              <a:lnSpc>
                <a:spcPct val="116000"/>
              </a:lnSpc>
              <a:spcAft>
                <a:spcPts val="700"/>
              </a:spcAft>
              <a:defRPr sz="900" b="0">
                <a:solidFill>
                  <a:srgbClr val="665E73"/>
                </a:solidFill>
                <a:latin typeface="Noto Sans KR"/>
              </a:defRPr>
            </a:pPr>
            <a:r>
              <a:t>11 / 12</a:t>
            </a:r>
          </a:p>
        </p:txBody>
      </p:sp>
      <p:sp>
        <p:nvSpPr>
          <p:cNvPr id="6" name="Rounded Rectangle 5"/>
          <p:cNvSpPr/>
          <p:nvPr/>
        </p:nvSpPr>
        <p:spPr>
          <a:xfrm>
            <a:off x="612648" y="1737360"/>
            <a:ext cx="3511296" cy="3200400"/>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965960"/>
            <a:ext cx="2926080" cy="548640"/>
          </a:xfrm>
          <a:prstGeom prst="rect">
            <a:avLst/>
          </a:prstGeom>
          <a:noFill/>
        </p:spPr>
        <p:txBody>
          <a:bodyPr wrap="square" lIns="0" rIns="0" tIns="0" bIns="0">
            <a:spAutoFit/>
          </a:bodyPr>
          <a:lstStyle/>
          <a:p>
            <a:pPr>
              <a:lnSpc>
                <a:spcPct val="116000"/>
              </a:lnSpc>
              <a:spcAft>
                <a:spcPts val="700"/>
              </a:spcAft>
              <a:defRPr sz="3200" b="1">
                <a:solidFill>
                  <a:srgbClr val="7152A2"/>
                </a:solidFill>
                <a:latin typeface="Noto Sans KR"/>
              </a:defRPr>
            </a:pPr>
            <a:r>
              <a:t>01</a:t>
            </a:r>
          </a:p>
        </p:txBody>
      </p:sp>
      <p:sp>
        <p:nvSpPr>
          <p:cNvPr id="8" name="TextBox 7"/>
          <p:cNvSpPr txBox="1"/>
          <p:nvPr/>
        </p:nvSpPr>
        <p:spPr>
          <a:xfrm>
            <a:off x="841248" y="2743200"/>
            <a:ext cx="3063240" cy="457200"/>
          </a:xfrm>
          <a:prstGeom prst="rect">
            <a:avLst/>
          </a:prstGeom>
          <a:noFill/>
        </p:spPr>
        <p:txBody>
          <a:bodyPr wrap="square" lIns="0" rIns="0" tIns="0" bIns="0">
            <a:spAutoFit/>
          </a:bodyPr>
          <a:lstStyle/>
          <a:p>
            <a:pPr>
              <a:lnSpc>
                <a:spcPct val="116000"/>
              </a:lnSpc>
              <a:spcAft>
                <a:spcPts val="700"/>
              </a:spcAft>
              <a:defRPr sz="2100" b="1">
                <a:solidFill>
                  <a:srgbClr val="1E1530"/>
                </a:solidFill>
                <a:latin typeface="Noto Sans KR"/>
              </a:defRPr>
            </a:pPr>
            <a:r>
              <a:t>기존 점수 보존</a:t>
            </a:r>
          </a:p>
        </p:txBody>
      </p:sp>
      <p:sp>
        <p:nvSpPr>
          <p:cNvPr id="9" name="TextBox 8"/>
          <p:cNvSpPr txBox="1"/>
          <p:nvPr/>
        </p:nvSpPr>
        <p:spPr>
          <a:xfrm>
            <a:off x="841248" y="3520440"/>
            <a:ext cx="3017520" cy="1188720"/>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AI 재검토 결과가 낮아도</a:t>
            </a:r>
          </a:p>
          <a:p>
            <a:pPr>
              <a:lnSpc>
                <a:spcPct val="116000"/>
              </a:lnSpc>
              <a:spcAft>
                <a:spcPts val="700"/>
              </a:spcAft>
              <a:defRPr sz="1600" b="0">
                <a:solidFill>
                  <a:srgbClr val="1E1530"/>
                </a:solidFill>
                <a:latin typeface="Noto Sans KR"/>
              </a:defRPr>
            </a:pPr>
            <a:r>
              <a:t>기존 점수는 깎지 않음</a:t>
            </a:r>
          </a:p>
          <a:p>
            <a:pPr>
              <a:lnSpc>
                <a:spcPct val="116000"/>
              </a:lnSpc>
              <a:spcAft>
                <a:spcPts val="700"/>
              </a:spcAft>
              <a:defRPr sz="1600" b="0">
                <a:solidFill>
                  <a:srgbClr val="1E1530"/>
                </a:solidFill>
                <a:latin typeface="Noto Sans KR"/>
              </a:defRPr>
            </a:pPr>
            <a:r>
              <a:t>인정된 차액만 반영</a:t>
            </a:r>
          </a:p>
        </p:txBody>
      </p:sp>
      <p:sp>
        <p:nvSpPr>
          <p:cNvPr id="10" name="Rounded Rectangle 9"/>
          <p:cNvSpPr/>
          <p:nvPr/>
        </p:nvSpPr>
        <p:spPr>
          <a:xfrm>
            <a:off x="4343400" y="1737360"/>
            <a:ext cx="3511296" cy="3200400"/>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965960"/>
            <a:ext cx="2926080" cy="548640"/>
          </a:xfrm>
          <a:prstGeom prst="rect">
            <a:avLst/>
          </a:prstGeom>
          <a:noFill/>
        </p:spPr>
        <p:txBody>
          <a:bodyPr wrap="square" lIns="0" rIns="0" tIns="0" bIns="0">
            <a:spAutoFit/>
          </a:bodyPr>
          <a:lstStyle/>
          <a:p>
            <a:pPr>
              <a:lnSpc>
                <a:spcPct val="116000"/>
              </a:lnSpc>
              <a:spcAft>
                <a:spcPts val="700"/>
              </a:spcAft>
              <a:defRPr sz="3200" b="1">
                <a:solidFill>
                  <a:srgbClr val="7152A2"/>
                </a:solidFill>
                <a:latin typeface="Noto Sans KR"/>
              </a:defRPr>
            </a:pPr>
            <a:r>
              <a:t>02</a:t>
            </a:r>
          </a:p>
        </p:txBody>
      </p:sp>
      <p:sp>
        <p:nvSpPr>
          <p:cNvPr id="12" name="TextBox 11"/>
          <p:cNvSpPr txBox="1"/>
          <p:nvPr/>
        </p:nvSpPr>
        <p:spPr>
          <a:xfrm>
            <a:off x="4572000" y="2743200"/>
            <a:ext cx="3063240" cy="457200"/>
          </a:xfrm>
          <a:prstGeom prst="rect">
            <a:avLst/>
          </a:prstGeom>
          <a:noFill/>
        </p:spPr>
        <p:txBody>
          <a:bodyPr wrap="square" lIns="0" rIns="0" tIns="0" bIns="0">
            <a:spAutoFit/>
          </a:bodyPr>
          <a:lstStyle/>
          <a:p>
            <a:pPr>
              <a:lnSpc>
                <a:spcPct val="116000"/>
              </a:lnSpc>
              <a:spcAft>
                <a:spcPts val="700"/>
              </a:spcAft>
              <a:defRPr sz="2100" b="1">
                <a:solidFill>
                  <a:srgbClr val="1E1530"/>
                </a:solidFill>
                <a:latin typeface="Noto Sans KR"/>
              </a:defRPr>
            </a:pPr>
            <a:r>
              <a:t>중복 지급 방지</a:t>
            </a:r>
          </a:p>
        </p:txBody>
      </p:sp>
      <p:sp>
        <p:nvSpPr>
          <p:cNvPr id="13" name="TextBox 12"/>
          <p:cNvSpPr txBox="1"/>
          <p:nvPr/>
        </p:nvSpPr>
        <p:spPr>
          <a:xfrm>
            <a:off x="4572000" y="3520440"/>
            <a:ext cx="3017520" cy="1188720"/>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같은 풀이를 다시 보내도</a:t>
            </a:r>
          </a:p>
          <a:p>
            <a:pPr>
              <a:lnSpc>
                <a:spcPct val="116000"/>
              </a:lnSpc>
              <a:spcAft>
                <a:spcPts val="700"/>
              </a:spcAft>
              <a:defRPr sz="1600" b="0">
                <a:solidFill>
                  <a:srgbClr val="1E1530"/>
                </a:solidFill>
                <a:latin typeface="Noto Sans KR"/>
              </a:defRPr>
            </a:pPr>
            <a:r>
              <a:t>기존 기록을 반환하거나 갱신</a:t>
            </a:r>
          </a:p>
          <a:p>
            <a:pPr>
              <a:lnSpc>
                <a:spcPct val="116000"/>
              </a:lnSpc>
              <a:spcAft>
                <a:spcPts val="700"/>
              </a:spcAft>
              <a:defRPr sz="1600" b="0">
                <a:solidFill>
                  <a:srgbClr val="1E1530"/>
                </a:solidFill>
                <a:latin typeface="Noto Sans KR"/>
              </a:defRPr>
            </a:pPr>
            <a:r>
              <a:t>추가 점수 중복 지급 방지</a:t>
            </a:r>
          </a:p>
        </p:txBody>
      </p:sp>
      <p:sp>
        <p:nvSpPr>
          <p:cNvPr id="14" name="Rounded Rectangle 13"/>
          <p:cNvSpPr/>
          <p:nvPr/>
        </p:nvSpPr>
        <p:spPr>
          <a:xfrm>
            <a:off x="8074152" y="1737360"/>
            <a:ext cx="3511296" cy="3200400"/>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1965960"/>
            <a:ext cx="2926080" cy="548640"/>
          </a:xfrm>
          <a:prstGeom prst="rect">
            <a:avLst/>
          </a:prstGeom>
          <a:noFill/>
        </p:spPr>
        <p:txBody>
          <a:bodyPr wrap="square" lIns="0" rIns="0" tIns="0" bIns="0">
            <a:spAutoFit/>
          </a:bodyPr>
          <a:lstStyle/>
          <a:p>
            <a:pPr>
              <a:lnSpc>
                <a:spcPct val="116000"/>
              </a:lnSpc>
              <a:spcAft>
                <a:spcPts val="700"/>
              </a:spcAft>
              <a:defRPr sz="3200" b="1">
                <a:solidFill>
                  <a:srgbClr val="7152A2"/>
                </a:solidFill>
                <a:latin typeface="Noto Sans KR"/>
              </a:defRPr>
            </a:pPr>
            <a:r>
              <a:t>03</a:t>
            </a:r>
          </a:p>
        </p:txBody>
      </p:sp>
      <p:sp>
        <p:nvSpPr>
          <p:cNvPr id="16" name="TextBox 15"/>
          <p:cNvSpPr txBox="1"/>
          <p:nvPr/>
        </p:nvSpPr>
        <p:spPr>
          <a:xfrm>
            <a:off x="8302752" y="2743200"/>
            <a:ext cx="3063240" cy="457200"/>
          </a:xfrm>
          <a:prstGeom prst="rect">
            <a:avLst/>
          </a:prstGeom>
          <a:noFill/>
        </p:spPr>
        <p:txBody>
          <a:bodyPr wrap="square" lIns="0" rIns="0" tIns="0" bIns="0">
            <a:spAutoFit/>
          </a:bodyPr>
          <a:lstStyle/>
          <a:p>
            <a:pPr>
              <a:lnSpc>
                <a:spcPct val="116000"/>
              </a:lnSpc>
              <a:spcAft>
                <a:spcPts val="700"/>
              </a:spcAft>
              <a:defRPr sz="2100" b="1">
                <a:solidFill>
                  <a:srgbClr val="1E1530"/>
                </a:solidFill>
                <a:latin typeface="Noto Sans KR"/>
              </a:defRPr>
            </a:pPr>
            <a:r>
              <a:t>복습과 신규 풀이 구분</a:t>
            </a:r>
          </a:p>
        </p:txBody>
      </p:sp>
      <p:sp>
        <p:nvSpPr>
          <p:cNvPr id="17" name="TextBox 16"/>
          <p:cNvSpPr txBox="1"/>
          <p:nvPr/>
        </p:nvSpPr>
        <p:spPr>
          <a:xfrm>
            <a:off x="8302752" y="3520440"/>
            <a:ext cx="3017520" cy="1188720"/>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이미 맞힌 문제는 복습으로 표시</a:t>
            </a:r>
          </a:p>
          <a:p>
            <a:pPr>
              <a:lnSpc>
                <a:spcPct val="116000"/>
              </a:lnSpc>
              <a:spcAft>
                <a:spcPts val="700"/>
              </a:spcAft>
              <a:defRPr sz="1600" b="0">
                <a:solidFill>
                  <a:srgbClr val="1E1530"/>
                </a:solidFill>
                <a:latin typeface="Noto Sans KR"/>
              </a:defRPr>
            </a:pPr>
            <a:r>
              <a:t>학습은 계속할 수 있지만</a:t>
            </a:r>
          </a:p>
          <a:p>
            <a:pPr>
              <a:lnSpc>
                <a:spcPct val="116000"/>
              </a:lnSpc>
              <a:spcAft>
                <a:spcPts val="700"/>
              </a:spcAft>
              <a:defRPr sz="1600" b="0">
                <a:solidFill>
                  <a:srgbClr val="1E1530"/>
                </a:solidFill>
                <a:latin typeface="Noto Sans KR"/>
              </a:defRPr>
            </a:pPr>
            <a:r>
              <a:t>누적 포인트는 중복 반영 안 함</a:t>
            </a:r>
          </a:p>
        </p:txBody>
      </p:sp>
      <p:sp>
        <p:nvSpPr>
          <p:cNvPr id="18" name="Rounded Rectangle 17"/>
          <p:cNvSpPr/>
          <p:nvPr/>
        </p:nvSpPr>
        <p:spPr>
          <a:xfrm>
            <a:off x="612648" y="5193792"/>
            <a:ext cx="10972800" cy="1005840"/>
          </a:xfrm>
          <a:prstGeom prst="roundRect">
            <a:avLst>
              <a:gd name="adj" fmla="val 10000"/>
            </a:avLst>
          </a:prstGeom>
          <a:solidFill>
            <a:srgbClr val="FC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5468112"/>
            <a:ext cx="10469880" cy="457200"/>
          </a:xfrm>
          <a:prstGeom prst="rect">
            <a:avLst/>
          </a:prstGeom>
          <a:noFill/>
        </p:spPr>
        <p:txBody>
          <a:bodyPr wrap="square" lIns="0" rIns="0" tIns="0" bIns="0">
            <a:spAutoFit/>
          </a:bodyPr>
          <a:lstStyle/>
          <a:p>
            <a:pPr>
              <a:lnSpc>
                <a:spcPct val="116000"/>
              </a:lnSpc>
              <a:spcAft>
                <a:spcPts val="700"/>
              </a:spcAft>
              <a:defRPr sz="2100" b="1">
                <a:solidFill>
                  <a:srgbClr val="1E1530"/>
                </a:solidFill>
                <a:latin typeface="Noto Sans KR"/>
              </a:defRPr>
            </a:pPr>
            <a:r>
              <a:t>문제 발급 → 답안 채점 → 풀이 기록 저장 → 복습·이의제기에 재사용</a:t>
            </a:r>
          </a:p>
        </p:txBody>
      </p:sp>
    </p:spTree>
    <p:extLst>
      <p:ext uri="{BB962C8B-B14F-4D97-AF65-F5344CB8AC3E}">
        <p14:creationId xmlns:p14="http://schemas.microsoft.com/office/powerpoint/2010/main" val="2359440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256032"/>
            <a:ext cx="10972800" cy="566928"/>
          </a:xfrm>
          <a:prstGeom prst="rect">
            <a:avLst/>
          </a:prstGeom>
          <a:noFill/>
        </p:spPr>
        <p:txBody>
          <a:bodyPr wrap="square" lIns="0" rIns="0" tIns="0" bIns="0">
            <a:spAutoFit/>
          </a:bodyPr>
          <a:lstStyle/>
          <a:p>
            <a:pPr>
              <a:lnSpc>
                <a:spcPct val="116000"/>
              </a:lnSpc>
              <a:spcAft>
                <a:spcPts val="700"/>
              </a:spcAft>
              <a:defRPr sz="3100" b="1">
                <a:solidFill>
                  <a:srgbClr val="1E1530"/>
                </a:solidFill>
                <a:latin typeface="Noto Sans KR"/>
              </a:defRPr>
            </a:pPr>
            <a:r>
              <a:t>과목별구현:(6)초등한자 - 김상도</a:t>
            </a:r>
          </a:p>
        </p:txBody>
      </p:sp>
      <p:sp>
        <p:nvSpPr>
          <p:cNvPr id="3" name="Rounded Rectangle 2"/>
          <p:cNvSpPr/>
          <p:nvPr/>
        </p:nvSpPr>
        <p:spPr>
          <a:xfrm>
            <a:off x="768096" y="850392"/>
            <a:ext cx="9976104" cy="530352"/>
          </a:xfrm>
          <a:prstGeom prst="roundRect">
            <a:avLst>
              <a:gd name="adj" fmla="val 10000"/>
            </a:avLst>
          </a:prstGeom>
          <a:solidFill>
            <a:srgbClr val="FC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50976"/>
            <a:ext cx="9646920" cy="329184"/>
          </a:xfrm>
          <a:prstGeom prst="rect">
            <a:avLst/>
          </a:prstGeom>
          <a:noFill/>
        </p:spPr>
        <p:txBody>
          <a:bodyPr wrap="square" lIns="0" rIns="0" tIns="0" bIns="0">
            <a:spAutoFit/>
          </a:bodyPr>
          <a:lstStyle/>
          <a:p>
            <a:pPr>
              <a:lnSpc>
                <a:spcPct val="116000"/>
              </a:lnSpc>
              <a:spcAft>
                <a:spcPts val="700"/>
              </a:spcAft>
              <a:defRPr sz="1600" b="1">
                <a:solidFill>
                  <a:srgbClr val="1E1530"/>
                </a:solidFill>
                <a:latin typeface="Noto Sans KR"/>
              </a:defRPr>
            </a:pPr>
            <a:r>
              <a:t>구현 정리 · 기초 학습에서 AI 기반 확장 학습까지</a:t>
            </a:r>
          </a:p>
        </p:txBody>
      </p:sp>
      <p:sp>
        <p:nvSpPr>
          <p:cNvPr id="5" name="TextBox 4"/>
          <p:cNvSpPr txBox="1"/>
          <p:nvPr/>
        </p:nvSpPr>
        <p:spPr>
          <a:xfrm>
            <a:off x="640080" y="6528816"/>
            <a:ext cx="1828800" cy="201168"/>
          </a:xfrm>
          <a:prstGeom prst="rect">
            <a:avLst/>
          </a:prstGeom>
          <a:noFill/>
        </p:spPr>
        <p:txBody>
          <a:bodyPr wrap="square" lIns="0" rIns="0" tIns="0" bIns="0">
            <a:spAutoFit/>
          </a:bodyPr>
          <a:lstStyle/>
          <a:p>
            <a:pPr>
              <a:lnSpc>
                <a:spcPct val="116000"/>
              </a:lnSpc>
              <a:spcAft>
                <a:spcPts val="700"/>
              </a:spcAft>
              <a:defRPr sz="900" b="0">
                <a:solidFill>
                  <a:srgbClr val="665E73"/>
                </a:solidFill>
                <a:latin typeface="Noto Sans KR"/>
              </a:defRPr>
            </a:pPr>
            <a:r>
              <a:t>12 / 12</a:t>
            </a:r>
          </a:p>
        </p:txBody>
      </p:sp>
      <p:sp>
        <p:nvSpPr>
          <p:cNvPr id="6" name="Rounded Rectangle 5"/>
          <p:cNvSpPr/>
          <p:nvPr/>
        </p:nvSpPr>
        <p:spPr>
          <a:xfrm>
            <a:off x="612648" y="1737360"/>
            <a:ext cx="3511296" cy="2852928"/>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1883664"/>
            <a:ext cx="3108960" cy="365760"/>
          </a:xfrm>
          <a:prstGeom prst="rect">
            <a:avLst/>
          </a:prstGeom>
          <a:noFill/>
        </p:spPr>
        <p:txBody>
          <a:bodyPr wrap="square" lIns="0" rIns="0" tIns="0" bIns="0">
            <a:spAutoFit/>
          </a:bodyPr>
          <a:lstStyle/>
          <a:p>
            <a:pPr>
              <a:lnSpc>
                <a:spcPct val="116000"/>
              </a:lnSpc>
              <a:spcAft>
                <a:spcPts val="700"/>
              </a:spcAft>
              <a:defRPr sz="1900" b="1">
                <a:solidFill>
                  <a:srgbClr val="7152A2"/>
                </a:solidFill>
                <a:latin typeface="Noto Sans KR"/>
              </a:defRPr>
            </a:pPr>
            <a:r>
              <a:t>기본 학습</a:t>
            </a:r>
          </a:p>
        </p:txBody>
      </p:sp>
      <p:sp>
        <p:nvSpPr>
          <p:cNvPr id="8" name="TextBox 7"/>
          <p:cNvSpPr txBox="1"/>
          <p:nvPr/>
        </p:nvSpPr>
        <p:spPr>
          <a:xfrm>
            <a:off x="813816" y="2395728"/>
            <a:ext cx="3108960" cy="2066544"/>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급수별 한자 카드</a:t>
            </a:r>
          </a:p>
          <a:p>
            <a:pPr>
              <a:lnSpc>
                <a:spcPct val="116000"/>
              </a:lnSpc>
              <a:spcAft>
                <a:spcPts val="700"/>
              </a:spcAft>
              <a:defRPr sz="1600" b="0">
                <a:solidFill>
                  <a:srgbClr val="1E1530"/>
                </a:solidFill>
                <a:latin typeface="Noto Sans KR"/>
              </a:defRPr>
            </a:pPr>
            <a:r>
              <a:t>객관식·OX·단답형·서술형</a:t>
            </a:r>
          </a:p>
          <a:p>
            <a:pPr>
              <a:lnSpc>
                <a:spcPct val="116000"/>
              </a:lnSpc>
              <a:spcAft>
                <a:spcPts val="700"/>
              </a:spcAft>
              <a:defRPr sz="1600" b="0">
                <a:solidFill>
                  <a:srgbClr val="1E1530"/>
                </a:solidFill>
                <a:latin typeface="Noto Sans KR"/>
              </a:defRPr>
            </a:pPr>
            <a:r>
              <a:t>훈음 판별과 부분 점수</a:t>
            </a:r>
          </a:p>
        </p:txBody>
      </p:sp>
      <p:sp>
        <p:nvSpPr>
          <p:cNvPr id="9" name="Rounded Rectangle 8"/>
          <p:cNvSpPr/>
          <p:nvPr/>
        </p:nvSpPr>
        <p:spPr>
          <a:xfrm>
            <a:off x="4343400" y="1737360"/>
            <a:ext cx="3511296" cy="2852928"/>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568" y="1883664"/>
            <a:ext cx="3108960" cy="365760"/>
          </a:xfrm>
          <a:prstGeom prst="rect">
            <a:avLst/>
          </a:prstGeom>
          <a:noFill/>
        </p:spPr>
        <p:txBody>
          <a:bodyPr wrap="square" lIns="0" rIns="0" tIns="0" bIns="0">
            <a:spAutoFit/>
          </a:bodyPr>
          <a:lstStyle/>
          <a:p>
            <a:pPr>
              <a:lnSpc>
                <a:spcPct val="116000"/>
              </a:lnSpc>
              <a:spcAft>
                <a:spcPts val="700"/>
              </a:spcAft>
              <a:defRPr sz="1900" b="1">
                <a:solidFill>
                  <a:srgbClr val="7152A2"/>
                </a:solidFill>
                <a:latin typeface="Noto Sans KR"/>
              </a:defRPr>
            </a:pPr>
            <a:r>
              <a:t>심화 학습</a:t>
            </a:r>
          </a:p>
        </p:txBody>
      </p:sp>
      <p:sp>
        <p:nvSpPr>
          <p:cNvPr id="11" name="TextBox 10"/>
          <p:cNvSpPr txBox="1"/>
          <p:nvPr/>
        </p:nvSpPr>
        <p:spPr>
          <a:xfrm>
            <a:off x="4544568" y="2395728"/>
            <a:ext cx="3108960" cy="2066544"/>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취약 내용 맞춤 복습</a:t>
            </a:r>
          </a:p>
          <a:p>
            <a:pPr>
              <a:lnSpc>
                <a:spcPct val="116000"/>
              </a:lnSpc>
              <a:spcAft>
                <a:spcPts val="700"/>
              </a:spcAft>
              <a:defRPr sz="1600" b="0">
                <a:solidFill>
                  <a:srgbClr val="1E1530"/>
                </a:solidFill>
                <a:latin typeface="Noto Sans KR"/>
              </a:defRPr>
            </a:pPr>
            <a:r>
              <a:t>이의 사유 기반 AI 재검토</a:t>
            </a:r>
          </a:p>
          <a:p>
            <a:pPr>
              <a:lnSpc>
                <a:spcPct val="116000"/>
              </a:lnSpc>
              <a:spcAft>
                <a:spcPts val="700"/>
              </a:spcAft>
              <a:defRPr sz="1600" b="0">
                <a:solidFill>
                  <a:srgbClr val="1E1530"/>
                </a:solidFill>
                <a:latin typeface="Noto Sans KR"/>
              </a:defRPr>
            </a:pPr>
            <a:r>
              <a:t>문제은행·AI 하이브리드 출제</a:t>
            </a:r>
          </a:p>
        </p:txBody>
      </p:sp>
      <p:sp>
        <p:nvSpPr>
          <p:cNvPr id="12" name="Rounded Rectangle 11"/>
          <p:cNvSpPr/>
          <p:nvPr/>
        </p:nvSpPr>
        <p:spPr>
          <a:xfrm>
            <a:off x="8074152" y="1737360"/>
            <a:ext cx="3511296" cy="2852928"/>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883664"/>
            <a:ext cx="3108960" cy="365760"/>
          </a:xfrm>
          <a:prstGeom prst="rect">
            <a:avLst/>
          </a:prstGeom>
          <a:noFill/>
        </p:spPr>
        <p:txBody>
          <a:bodyPr wrap="square" lIns="0" rIns="0" tIns="0" bIns="0">
            <a:spAutoFit/>
          </a:bodyPr>
          <a:lstStyle/>
          <a:p>
            <a:pPr>
              <a:lnSpc>
                <a:spcPct val="116000"/>
              </a:lnSpc>
              <a:spcAft>
                <a:spcPts val="700"/>
              </a:spcAft>
              <a:defRPr sz="1900" b="1">
                <a:solidFill>
                  <a:srgbClr val="7152A2"/>
                </a:solidFill>
                <a:latin typeface="Noto Sans KR"/>
              </a:defRPr>
            </a:pPr>
            <a:r>
              <a:t>학습 경험</a:t>
            </a:r>
          </a:p>
        </p:txBody>
      </p:sp>
      <p:sp>
        <p:nvSpPr>
          <p:cNvPr id="14" name="TextBox 13"/>
          <p:cNvSpPr txBox="1"/>
          <p:nvPr/>
        </p:nvSpPr>
        <p:spPr>
          <a:xfrm>
            <a:off x="8275320" y="2395728"/>
            <a:ext cx="3108960" cy="2066544"/>
          </a:xfrm>
          <a:prstGeom prst="rect">
            <a:avLst/>
          </a:prstGeom>
          <a:noFill/>
        </p:spPr>
        <p:txBody>
          <a:bodyPr wrap="square" lIns="0" rIns="0" tIns="0" bIns="0">
            <a:spAutoFit/>
          </a:bodyPr>
          <a:lstStyle/>
          <a:p>
            <a:pPr>
              <a:lnSpc>
                <a:spcPct val="116000"/>
              </a:lnSpc>
              <a:spcAft>
                <a:spcPts val="700"/>
              </a:spcAft>
              <a:defRPr sz="1600" b="0">
                <a:solidFill>
                  <a:srgbClr val="1E1530"/>
                </a:solidFill>
                <a:latin typeface="Noto Sans KR"/>
              </a:defRPr>
            </a:pPr>
            <a:r>
              <a:t>풀이 기록과 피드백 확인</a:t>
            </a:r>
          </a:p>
          <a:p>
            <a:pPr>
              <a:lnSpc>
                <a:spcPct val="116000"/>
              </a:lnSpc>
              <a:spcAft>
                <a:spcPts val="700"/>
              </a:spcAft>
              <a:defRPr sz="1600" b="0">
                <a:solidFill>
                  <a:srgbClr val="1E1530"/>
                </a:solidFill>
                <a:latin typeface="Noto Sans KR"/>
              </a:defRPr>
            </a:pPr>
            <a:r>
              <a:t>실패 시 문제은행으로 대체</a:t>
            </a:r>
          </a:p>
          <a:p>
            <a:pPr>
              <a:lnSpc>
                <a:spcPct val="116000"/>
              </a:lnSpc>
              <a:spcAft>
                <a:spcPts val="700"/>
              </a:spcAft>
              <a:defRPr sz="1600" b="0">
                <a:solidFill>
                  <a:srgbClr val="1E1530"/>
                </a:solidFill>
                <a:latin typeface="Noto Sans KR"/>
              </a:defRPr>
            </a:pPr>
            <a:r>
              <a:t>점수 중복 지급 방지</a:t>
            </a:r>
          </a:p>
        </p:txBody>
      </p:sp>
      <p:sp>
        <p:nvSpPr>
          <p:cNvPr id="15" name="Rounded Rectangle 14"/>
          <p:cNvSpPr/>
          <p:nvPr/>
        </p:nvSpPr>
        <p:spPr>
          <a:xfrm>
            <a:off x="612648" y="4864608"/>
            <a:ext cx="10972800" cy="1325880"/>
          </a:xfrm>
          <a:prstGeom prst="roundRect">
            <a:avLst>
              <a:gd name="adj" fmla="val 10000"/>
            </a:avLst>
          </a:prstGeom>
          <a:solidFill>
            <a:srgbClr val="FFFFFF"/>
          </a:solidFill>
          <a:ln>
            <a:solidFill>
              <a:srgbClr val="DAC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5093208"/>
            <a:ext cx="10424160" cy="457200"/>
          </a:xfrm>
          <a:prstGeom prst="rect">
            <a:avLst/>
          </a:prstGeom>
          <a:noFill/>
        </p:spPr>
        <p:txBody>
          <a:bodyPr wrap="square" lIns="0" rIns="0" tIns="0" bIns="0">
            <a:spAutoFit/>
          </a:bodyPr>
          <a:lstStyle/>
          <a:p>
            <a:pPr>
              <a:lnSpc>
                <a:spcPct val="116000"/>
              </a:lnSpc>
              <a:spcAft>
                <a:spcPts val="700"/>
              </a:spcAft>
              <a:defRPr sz="2500" b="1">
                <a:solidFill>
                  <a:srgbClr val="7152A2"/>
                </a:solidFill>
                <a:latin typeface="Noto Sans KR"/>
              </a:defRPr>
            </a:pPr>
            <a:r>
              <a:t>한 글자 학습에서 의미 이해와 자기 설명까지</a:t>
            </a:r>
          </a:p>
        </p:txBody>
      </p:sp>
      <p:sp>
        <p:nvSpPr>
          <p:cNvPr id="17" name="TextBox 16"/>
          <p:cNvSpPr txBox="1"/>
          <p:nvPr/>
        </p:nvSpPr>
        <p:spPr>
          <a:xfrm>
            <a:off x="896112" y="5669280"/>
            <a:ext cx="10424160" cy="365760"/>
          </a:xfrm>
          <a:prstGeom prst="rect">
            <a:avLst/>
          </a:prstGeom>
          <a:noFill/>
        </p:spPr>
        <p:txBody>
          <a:bodyPr wrap="square" lIns="0" rIns="0" tIns="0" bIns="0">
            <a:spAutoFit/>
          </a:bodyPr>
          <a:lstStyle/>
          <a:p>
            <a:pPr>
              <a:lnSpc>
                <a:spcPct val="116000"/>
              </a:lnSpc>
              <a:spcAft>
                <a:spcPts val="700"/>
              </a:spcAft>
              <a:defRPr sz="1700" b="0">
                <a:solidFill>
                  <a:srgbClr val="1E1530"/>
                </a:solidFill>
                <a:latin typeface="Noto Sans KR"/>
              </a:defRPr>
            </a:pPr>
            <a:r>
              <a:t>기초 기능 위에 복습·재검토·하이브리드 출제를 연결한 초등한자 학습 파트</a:t>
            </a:r>
          </a:p>
        </p:txBody>
      </p:sp>
    </p:spTree>
    <p:extLst>
      <p:ext uri="{BB962C8B-B14F-4D97-AF65-F5344CB8AC3E}">
        <p14:creationId xmlns:p14="http://schemas.microsoft.com/office/powerpoint/2010/main" val="37096158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395</TotalTime>
  <Words>1300</Words>
  <Application>Microsoft Office PowerPoint</Application>
  <PresentationFormat>와이드스크린</PresentationFormat>
  <Paragraphs>119</Paragraphs>
  <Slides>17</Slides>
  <Notes>17</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17</vt:i4>
      </vt:variant>
    </vt:vector>
  </HeadingPairs>
  <TitlesOfParts>
    <vt:vector size="23" baseType="lpstr">
      <vt:lpstr>Asta Sans ExtraBold</vt:lpstr>
      <vt:lpstr>Noto Sans KR Bold</vt:lpstr>
      <vt:lpstr>맑은 고딕</vt:lpstr>
      <vt:lpstr>Calibri</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과목별구현:(6)초등한자 - 김상도</dc:title>
  <dc:subject>급수별 한자 퀴즈, 훈음 판별기, 대화형 이의제기 및 하이브리드 탭 구현</dc:subject>
  <dc:creator>김상도</dc:creator>
  <cp:lastModifiedBy>KIM</cp:lastModifiedBy>
  <cp:revision>32</cp:revision>
  <dcterms:created xsi:type="dcterms:W3CDTF">2026-10-22T05:27:05Z</dcterms:created>
  <dcterms:modified xsi:type="dcterms:W3CDTF">2026-10-23T05:37:18Z</dcterms:modified>
  <cp:keywords>초등한자, 급수별 퀴즈, 훈음 판별, 이의제기, 하이브리드 문제은행</cp:keywords>
</cp:coreProperties>
</file>